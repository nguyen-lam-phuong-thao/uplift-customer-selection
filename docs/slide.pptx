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13"/>
  </p:notesMasterIdLst>
  <p:sldIdLst>
    <p:sldId id="256" r:id="rId5"/>
    <p:sldId id="279" r:id="rId6"/>
    <p:sldId id="291" r:id="rId7"/>
    <p:sldId id="293" r:id="rId8"/>
    <p:sldId id="294" r:id="rId9"/>
    <p:sldId id="295" r:id="rId10"/>
    <p:sldId id="296" r:id="rId11"/>
    <p:sldId id="280" r:id="rId12"/>
  </p:sldIdLst>
  <p:sldSz cx="18288000" cy="10287000"/>
  <p:notesSz cx="6858000" cy="91440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Leelawadee UI" panose="020B0502040204020203" pitchFamily="34" charset="-34"/>
      <p:regular r:id="rId18"/>
      <p:bold r:id="rId19"/>
    </p:embeddedFont>
    <p:embeddedFont>
      <p:font typeface="Lexend Bold" panose="020B0604020202020204" charset="0"/>
      <p:regular r:id="rId20"/>
    </p:embeddedFont>
    <p:embeddedFont>
      <p:font typeface="VSF Pro Bold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E7770E-9DBD-D372-FEF6-496B6FE26F4C}" v="1" dt="2026-07-14T02:02:03.291"/>
    <p1510:client id="{C17AC6F7-68CE-76DF-4D3D-32AB302E67C9}" v="19" dt="2026-07-13T16:06:25.7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91" autoAdjust="0"/>
    <p:restoredTop sz="92933" autoAdjust="0"/>
  </p:normalViewPr>
  <p:slideViewPr>
    <p:cSldViewPr>
      <p:cViewPr varScale="1">
        <p:scale>
          <a:sx n="40" d="100"/>
          <a:sy n="40" d="100"/>
        </p:scale>
        <p:origin x="34" y="54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font" Target="fonts/font8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font" Target="fonts/font6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1.fntdata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rần Nguyễn Thành Nam (VSF-BO-ĐT-PTVH)" userId="S::namtnt2@vingroup.net::2bd4da57-1d48-4252-a366-22bfa43b3be7" providerId="AD" clId="Web-{65E7770E-9DBD-D372-FEF6-496B6FE26F4C}"/>
    <pc:docChg chg="sldOrd">
      <pc:chgData name="Trần Nguyễn Thành Nam (VSF-BO-ĐT-PTVH)" userId="S::namtnt2@vingroup.net::2bd4da57-1d48-4252-a366-22bfa43b3be7" providerId="AD" clId="Web-{65E7770E-9DBD-D372-FEF6-496B6FE26F4C}" dt="2026-07-14T02:02:03.291" v="0"/>
      <pc:docMkLst>
        <pc:docMk/>
      </pc:docMkLst>
      <pc:sldChg chg="ord">
        <pc:chgData name="Trần Nguyễn Thành Nam (VSF-BO-ĐT-PTVH)" userId="S::namtnt2@vingroup.net::2bd4da57-1d48-4252-a366-22bfa43b3be7" providerId="AD" clId="Web-{65E7770E-9DBD-D372-FEF6-496B6FE26F4C}" dt="2026-07-14T02:02:03.291" v="0"/>
        <pc:sldMkLst>
          <pc:docMk/>
          <pc:sldMk cId="0" sldId="257"/>
        </pc:sldMkLst>
      </pc:sldChg>
    </pc:docChg>
  </pc:docChgLst>
  <pc:docChgLst>
    <pc:chgData name="Trần Nguyễn Thành Nam (VSF-BO-ĐT-PTVH)" userId="S::namtnt2@vingroup.net::2bd4da57-1d48-4252-a366-22bfa43b3be7" providerId="AD" clId="Web-{C17AC6F7-68CE-76DF-4D3D-32AB302E67C9}"/>
    <pc:docChg chg="modSld">
      <pc:chgData name="Trần Nguyễn Thành Nam (VSF-BO-ĐT-PTVH)" userId="S::namtnt2@vingroup.net::2bd4da57-1d48-4252-a366-22bfa43b3be7" providerId="AD" clId="Web-{C17AC6F7-68CE-76DF-4D3D-32AB302E67C9}" dt="2026-07-13T16:06:25.710" v="15" actId="14100"/>
      <pc:docMkLst>
        <pc:docMk/>
      </pc:docMkLst>
      <pc:sldChg chg="addSp delSp modSp">
        <pc:chgData name="Trần Nguyễn Thành Nam (VSF-BO-ĐT-PTVH)" userId="S::namtnt2@vingroup.net::2bd4da57-1d48-4252-a366-22bfa43b3be7" providerId="AD" clId="Web-{C17AC6F7-68CE-76DF-4D3D-32AB302E67C9}" dt="2026-07-13T16:06:25.710" v="15" actId="14100"/>
        <pc:sldMkLst>
          <pc:docMk/>
          <pc:sldMk cId="0" sldId="257"/>
        </pc:sldMkLst>
        <pc:spChg chg="del">
          <ac:chgData name="Trần Nguyễn Thành Nam (VSF-BO-ĐT-PTVH)" userId="S::namtnt2@vingroup.net::2bd4da57-1d48-4252-a366-22bfa43b3be7" providerId="AD" clId="Web-{C17AC6F7-68CE-76DF-4D3D-32AB302E67C9}" dt="2026-07-13T16:06:07.913" v="9"/>
          <ac:spMkLst>
            <pc:docMk/>
            <pc:sldMk cId="0" sldId="257"/>
            <ac:spMk id="4" creationId="{00000000-0000-0000-0000-000000000000}"/>
          </ac:spMkLst>
        </pc:spChg>
        <pc:spChg chg="mod">
          <ac:chgData name="Trần Nguyễn Thành Nam (VSF-BO-ĐT-PTVH)" userId="S::namtnt2@vingroup.net::2bd4da57-1d48-4252-a366-22bfa43b3be7" providerId="AD" clId="Web-{C17AC6F7-68CE-76DF-4D3D-32AB302E67C9}" dt="2026-07-13T15:23:44.011" v="2" actId="20577"/>
          <ac:spMkLst>
            <pc:docMk/>
            <pc:sldMk cId="0" sldId="257"/>
            <ac:spMk id="6" creationId="{00000000-0000-0000-0000-000000000000}"/>
          </ac:spMkLst>
        </pc:spChg>
        <pc:picChg chg="add mod">
          <ac:chgData name="Trần Nguyễn Thành Nam (VSF-BO-ĐT-PTVH)" userId="S::namtnt2@vingroup.net::2bd4da57-1d48-4252-a366-22bfa43b3be7" providerId="AD" clId="Web-{C17AC6F7-68CE-76DF-4D3D-32AB302E67C9}" dt="2026-07-13T16:06:25.710" v="15" actId="14100"/>
          <ac:picMkLst>
            <pc:docMk/>
            <pc:sldMk cId="0" sldId="257"/>
            <ac:picMk id="7" creationId="{057E5180-38BD-8A8E-A0E8-D9BD6113DBF5}"/>
          </ac:picMkLst>
        </pc:picChg>
      </pc:sldChg>
      <pc:sldChg chg="delSp modSp">
        <pc:chgData name="Trần Nguyễn Thành Nam (VSF-BO-ĐT-PTVH)" userId="S::namtnt2@vingroup.net::2bd4da57-1d48-4252-a366-22bfa43b3be7" providerId="AD" clId="Web-{C17AC6F7-68CE-76DF-4D3D-32AB302E67C9}" dt="2026-07-13T15:25:21.983" v="7"/>
        <pc:sldMkLst>
          <pc:docMk/>
          <pc:sldMk cId="0" sldId="259"/>
        </pc:sldMkLst>
        <pc:spChg chg="mod">
          <ac:chgData name="Trần Nguyễn Thành Nam (VSF-BO-ĐT-PTVH)" userId="S::namtnt2@vingroup.net::2bd4da57-1d48-4252-a366-22bfa43b3be7" providerId="AD" clId="Web-{C17AC6F7-68CE-76DF-4D3D-32AB302E67C9}" dt="2026-07-13T15:25:12.108" v="6" actId="20577"/>
          <ac:spMkLst>
            <pc:docMk/>
            <pc:sldMk cId="0" sldId="259"/>
            <ac:spMk id="6" creationId="{00000000-0000-0000-0000-000000000000}"/>
          </ac:spMkLst>
        </pc:spChg>
        <pc:spChg chg="del">
          <ac:chgData name="Trần Nguyễn Thành Nam (VSF-BO-ĐT-PTVH)" userId="S::namtnt2@vingroup.net::2bd4da57-1d48-4252-a366-22bfa43b3be7" providerId="AD" clId="Web-{C17AC6F7-68CE-76DF-4D3D-32AB302E67C9}" dt="2026-07-13T15:25:21.983" v="7"/>
          <ac:spMkLst>
            <pc:docMk/>
            <pc:sldMk cId="0" sldId="259"/>
            <ac:spMk id="192" creationId="{47A11870-9405-4BD6-98B0-BD88CC89A6B5}"/>
          </ac:spMkLst>
        </pc:spChg>
      </pc:sldChg>
      <pc:sldChg chg="modSp">
        <pc:chgData name="Trần Nguyễn Thành Nam (VSF-BO-ĐT-PTVH)" userId="S::namtnt2@vingroup.net::2bd4da57-1d48-4252-a366-22bfa43b3be7" providerId="AD" clId="Web-{C17AC6F7-68CE-76DF-4D3D-32AB302E67C9}" dt="2026-07-13T15:26:24.923" v="8" actId="14100"/>
        <pc:sldMkLst>
          <pc:docMk/>
          <pc:sldMk cId="0" sldId="285"/>
        </pc:sldMkLst>
        <pc:spChg chg="mod">
          <ac:chgData name="Trần Nguyễn Thành Nam (VSF-BO-ĐT-PTVH)" userId="S::namtnt2@vingroup.net::2bd4da57-1d48-4252-a366-22bfa43b3be7" providerId="AD" clId="Web-{C17AC6F7-68CE-76DF-4D3D-32AB302E67C9}" dt="2026-07-13T15:26:24.923" v="8" actId="14100"/>
          <ac:spMkLst>
            <pc:docMk/>
            <pc:sldMk cId="0" sldId="285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26.08.2026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dddd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865986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588216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Ajhdfkljhasdfh</a:t>
            </a:r>
            <a:r>
              <a:rPr lang="en-US" dirty="0"/>
              <a:t> </a:t>
            </a:r>
            <a:r>
              <a:rPr lang="en-US" dirty="0" err="1"/>
              <a:t>ưkhe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236871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222" b="-922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9288" b="-928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/>
          <p:cNvSpPr/>
          <p:nvPr/>
        </p:nvSpPr>
        <p:spPr>
          <a:xfrm>
            <a:off x="-457154" y="855757"/>
            <a:ext cx="19205267" cy="10840943"/>
          </a:xfrm>
          <a:custGeom>
            <a:avLst/>
            <a:gdLst/>
            <a:ahLst/>
            <a:cxnLst/>
            <a:rect l="l" t="t" r="r" b="b"/>
            <a:pathLst>
              <a:path w="19205267" h="10840943">
                <a:moveTo>
                  <a:pt x="0" y="0"/>
                </a:moveTo>
                <a:lnTo>
                  <a:pt x="19205266" y="0"/>
                </a:lnTo>
                <a:lnTo>
                  <a:pt x="19205266" y="10840943"/>
                </a:lnTo>
                <a:lnTo>
                  <a:pt x="0" y="1084094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6" name="Group 6"/>
          <p:cNvGrpSpPr/>
          <p:nvPr/>
        </p:nvGrpSpPr>
        <p:grpSpPr>
          <a:xfrm>
            <a:off x="7543800" y="147450"/>
            <a:ext cx="3250492" cy="881250"/>
            <a:chOff x="0" y="0"/>
            <a:chExt cx="3228721" cy="87534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228721" cy="875386"/>
            </a:xfrm>
            <a:custGeom>
              <a:avLst/>
              <a:gdLst/>
              <a:ahLst/>
              <a:cxnLst/>
              <a:rect l="l" t="t" r="r" b="b"/>
              <a:pathLst>
                <a:path w="3228721" h="875386">
                  <a:moveTo>
                    <a:pt x="0" y="0"/>
                  </a:moveTo>
                  <a:lnTo>
                    <a:pt x="3228721" y="0"/>
                  </a:lnTo>
                  <a:lnTo>
                    <a:pt x="3228721" y="875386"/>
                  </a:lnTo>
                  <a:lnTo>
                    <a:pt x="0" y="8753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31200" b="-3119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87443" y="5570353"/>
            <a:ext cx="17479265" cy="1512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300"/>
              </a:lnSpc>
            </a:pPr>
            <a:r>
              <a:rPr lang="en-US" sz="3200" b="1" dirty="0" err="1">
                <a:latin typeface="Leelawadee UI" panose="020B0502040204020203" pitchFamily="34" charset="-34"/>
                <a:cs typeface="Leelawadee UI" panose="020B0502040204020203" pitchFamily="34" charset="-34"/>
              </a:rPr>
              <a:t>Người</a:t>
            </a:r>
            <a:r>
              <a:rPr lang="en-US" sz="3200" b="1" dirty="0">
                <a:latin typeface="Leelawadee UI" panose="020B0502040204020203" pitchFamily="34" charset="-34"/>
                <a:cs typeface="Leelawadee UI" panose="020B0502040204020203" pitchFamily="34" charset="-34"/>
              </a:rPr>
              <a:t> </a:t>
            </a:r>
            <a:r>
              <a:rPr lang="en-US" sz="3200" b="1" dirty="0" err="1">
                <a:latin typeface="Leelawadee UI" panose="020B0502040204020203" pitchFamily="34" charset="-34"/>
                <a:cs typeface="Leelawadee UI" panose="020B0502040204020203" pitchFamily="34" charset="-34"/>
              </a:rPr>
              <a:t>thực</a:t>
            </a:r>
            <a:r>
              <a:rPr lang="en-US" sz="3200" b="1" dirty="0">
                <a:latin typeface="Leelawadee UI" panose="020B0502040204020203" pitchFamily="34" charset="-34"/>
                <a:cs typeface="Leelawadee UI" panose="020B0502040204020203" pitchFamily="34" charset="-34"/>
              </a:rPr>
              <a:t> </a:t>
            </a:r>
            <a:r>
              <a:rPr lang="en-US" sz="3200" b="1" dirty="0" err="1">
                <a:latin typeface="Leelawadee UI" panose="020B0502040204020203" pitchFamily="34" charset="-34"/>
                <a:cs typeface="Leelawadee UI" panose="020B0502040204020203" pitchFamily="34" charset="-34"/>
              </a:rPr>
              <a:t>hiện</a:t>
            </a:r>
            <a:r>
              <a:rPr lang="en-US" sz="3200" b="1" dirty="0">
                <a:latin typeface="Leelawadee UI" panose="020B0502040204020203" pitchFamily="34" charset="-34"/>
                <a:cs typeface="Leelawadee UI" panose="020B0502040204020203" pitchFamily="34" charset="-34"/>
              </a:rPr>
              <a:t>:</a:t>
            </a:r>
            <a:r>
              <a:rPr lang="en-US" sz="3200" dirty="0">
                <a:latin typeface="Leelawadee UI" panose="020B0502040204020203" pitchFamily="34" charset="-34"/>
                <a:cs typeface="Leelawadee UI" panose="020B0502040204020203" pitchFamily="34" charset="-34"/>
              </a:rPr>
              <a:t> Nguyễn Lâm Ph</a:t>
            </a:r>
            <a:r>
              <a:rPr lang="vi-VN" sz="3200" dirty="0">
                <a:latin typeface="Leelawadee UI" panose="020B0502040204020203" pitchFamily="34" charset="-34"/>
                <a:cs typeface="Leelawadee UI" panose="020B0502040204020203" pitchFamily="34" charset="-34"/>
              </a:rPr>
              <a:t>ư</a:t>
            </a:r>
            <a:r>
              <a:rPr lang="en-US" sz="3200" dirty="0" err="1">
                <a:latin typeface="Leelawadee UI" panose="020B0502040204020203" pitchFamily="34" charset="-34"/>
                <a:cs typeface="Leelawadee UI" panose="020B0502040204020203" pitchFamily="34" charset="-34"/>
              </a:rPr>
              <a:t>ơng</a:t>
            </a:r>
            <a:r>
              <a:rPr lang="en-US" sz="3200" dirty="0">
                <a:latin typeface="Leelawadee UI" panose="020B0502040204020203" pitchFamily="34" charset="-34"/>
                <a:cs typeface="Leelawadee UI" panose="020B0502040204020203" pitchFamily="34" charset="-34"/>
              </a:rPr>
              <a:t> Thảo</a:t>
            </a:r>
          </a:p>
          <a:p>
            <a:pPr>
              <a:lnSpc>
                <a:spcPts val="6300"/>
              </a:lnSpc>
            </a:pPr>
            <a:r>
              <a:rPr lang="en-US" sz="3200" b="1" dirty="0" err="1">
                <a:latin typeface="Leelawadee UI" panose="020B0502040204020203" pitchFamily="34" charset="-34"/>
                <a:cs typeface="Leelawadee UI" panose="020B0502040204020203" pitchFamily="34" charset="-34"/>
              </a:rPr>
              <a:t>Đơn</a:t>
            </a:r>
            <a:r>
              <a:rPr lang="en-US" sz="3200" b="1" dirty="0">
                <a:latin typeface="Leelawadee UI" panose="020B0502040204020203" pitchFamily="34" charset="-34"/>
                <a:cs typeface="Leelawadee UI" panose="020B0502040204020203" pitchFamily="34" charset="-34"/>
              </a:rPr>
              <a:t> </a:t>
            </a:r>
            <a:r>
              <a:rPr lang="en-US" sz="3200" b="1" dirty="0" err="1">
                <a:latin typeface="Leelawadee UI" panose="020B0502040204020203" pitchFamily="34" charset="-34"/>
                <a:cs typeface="Leelawadee UI" panose="020B0502040204020203" pitchFamily="34" charset="-34"/>
              </a:rPr>
              <a:t>vị</a:t>
            </a:r>
            <a:r>
              <a:rPr lang="en-US" sz="3200" b="1" dirty="0">
                <a:latin typeface="Leelawadee UI" panose="020B0502040204020203" pitchFamily="34" charset="-34"/>
                <a:cs typeface="Leelawadee UI" panose="020B0502040204020203" pitchFamily="34" charset="-34"/>
              </a:rPr>
              <a:t> </a:t>
            </a:r>
            <a:r>
              <a:rPr lang="en-US" sz="3200" b="1" dirty="0" err="1">
                <a:latin typeface="Leelawadee UI" panose="020B0502040204020203" pitchFamily="34" charset="-34"/>
                <a:cs typeface="Leelawadee UI" panose="020B0502040204020203" pitchFamily="34" charset="-34"/>
              </a:rPr>
              <a:t>thực</a:t>
            </a:r>
            <a:r>
              <a:rPr lang="en-US" sz="3200" b="1" dirty="0">
                <a:latin typeface="Leelawadee UI" panose="020B0502040204020203" pitchFamily="34" charset="-34"/>
                <a:cs typeface="Leelawadee UI" panose="020B0502040204020203" pitchFamily="34" charset="-34"/>
              </a:rPr>
              <a:t> </a:t>
            </a:r>
            <a:r>
              <a:rPr lang="en-US" sz="3200" b="1" dirty="0" err="1">
                <a:latin typeface="Leelawadee UI" panose="020B0502040204020203" pitchFamily="34" charset="-34"/>
                <a:cs typeface="Leelawadee UI" panose="020B0502040204020203" pitchFamily="34" charset="-34"/>
              </a:rPr>
              <a:t>tập</a:t>
            </a:r>
            <a:r>
              <a:rPr lang="en-US" sz="3200" b="1" dirty="0">
                <a:latin typeface="Leelawadee UI" panose="020B0502040204020203" pitchFamily="34" charset="-34"/>
                <a:cs typeface="Leelawadee UI" panose="020B0502040204020203" pitchFamily="34" charset="-34"/>
              </a:rPr>
              <a:t>:</a:t>
            </a:r>
            <a:r>
              <a:rPr lang="en-US" sz="3200" dirty="0">
                <a:latin typeface="Leelawadee UI" panose="020B0502040204020203" pitchFamily="34" charset="-34"/>
                <a:cs typeface="Leelawadee UI" panose="020B0502040204020203" pitchFamily="34" charset="-34"/>
              </a:rPr>
              <a:t> </a:t>
            </a:r>
            <a:r>
              <a:rPr lang="en-US" sz="3200" dirty="0" err="1">
                <a:latin typeface="Leelawadee UI" panose="020B0502040204020203" pitchFamily="34" charset="-34"/>
                <a:cs typeface="Leelawadee UI" panose="020B0502040204020203" pitchFamily="34" charset="-34"/>
              </a:rPr>
              <a:t>VSF-Fintech</a:t>
            </a:r>
            <a:r>
              <a:rPr lang="en-US" sz="3200" err="1">
                <a:latin typeface="Leelawadee UI" panose="020B0502040204020203" pitchFamily="34" charset="-34"/>
                <a:cs typeface="Leelawadee UI" panose="020B0502040204020203" pitchFamily="34" charset="-34"/>
              </a:rPr>
              <a:t>&amp;</a:t>
            </a:r>
            <a:r>
              <a:rPr lang="en-US" sz="3200">
                <a:latin typeface="Leelawadee UI" panose="020B0502040204020203" pitchFamily="34" charset="-34"/>
                <a:cs typeface="Leelawadee UI" panose="020B0502040204020203" pitchFamily="34" charset="-34"/>
              </a:rPr>
              <a:t>TT-DL&amp;AI</a:t>
            </a:r>
            <a:endParaRPr lang="en-US" sz="3200" dirty="0"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47622" y="2814103"/>
            <a:ext cx="18240378" cy="15345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00"/>
              </a:lnSpc>
            </a:pPr>
            <a:r>
              <a:rPr lang="vi-VN" sz="4100" b="1" dirty="0">
                <a:solidFill>
                  <a:srgbClr val="FF0000"/>
                </a:solidFill>
                <a:latin typeface="VSF Pro Bold" panose="020B0604020202020204" charset="0"/>
                <a:ea typeface="VSF Pro Bold" panose="020B0604020202020204" charset="0"/>
                <a:cs typeface="VSF Pro Bold" panose="020B0604020202020204" charset="0"/>
              </a:rPr>
              <a:t>Quyết định Uplift hay Response thay đổi như thế nào giữa các bối cảnh dữ liệu khác nhau?</a:t>
            </a:r>
            <a:endParaRPr lang="en-US" sz="4100" b="1" dirty="0">
              <a:solidFill>
                <a:srgbClr val="FF0000"/>
              </a:solidFill>
              <a:latin typeface="VSF Pro Bold" panose="020B0604020202020204" charset="0"/>
              <a:ea typeface="VSF Pro Bold" panose="020B0604020202020204" charset="0"/>
              <a:cs typeface="VSF Pro Bold" panose="020B0604020202020204" charset="0"/>
              <a:sym typeface="VSF Pro Bold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FC4D2F-7E44-0498-3B0A-465375424108}"/>
              </a:ext>
            </a:extLst>
          </p:cNvPr>
          <p:cNvSpPr txBox="1"/>
          <p:nvPr/>
        </p:nvSpPr>
        <p:spPr>
          <a:xfrm>
            <a:off x="6629400" y="1589582"/>
            <a:ext cx="8077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Lexend Bold" panose="020B0604020202020204" charset="0"/>
              </a:rPr>
              <a:t>BÁO </a:t>
            </a:r>
            <a:r>
              <a:rPr lang="en-US" sz="4000" b="1" dirty="0">
                <a:latin typeface="Leelawadee UI" panose="020B0502040204020203" pitchFamily="34" charset="-34"/>
                <a:cs typeface="Leelawadee UI" panose="020B0502040204020203" pitchFamily="34" charset="-34"/>
              </a:rPr>
              <a:t>CÁO</a:t>
            </a:r>
            <a:r>
              <a:rPr lang="en-US" sz="4000" b="1" dirty="0">
                <a:latin typeface="Lexend Bold" panose="020B0604020202020204" charset="0"/>
              </a:rPr>
              <a:t> THỰC TẬP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C361B3-F0A0-7296-46BB-9858E04891E7}"/>
              </a:ext>
            </a:extLst>
          </p:cNvPr>
          <p:cNvSpPr txBox="1"/>
          <p:nvPr/>
        </p:nvSpPr>
        <p:spPr>
          <a:xfrm>
            <a:off x="7010400" y="9312414"/>
            <a:ext cx="4724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latin typeface="Leelawadee UI" panose="020B0502040204020203" pitchFamily="34" charset="-34"/>
                <a:cs typeface="Leelawadee UI" panose="020B0502040204020203" pitchFamily="34" charset="-34"/>
              </a:rPr>
              <a:t>Chương</a:t>
            </a:r>
            <a:r>
              <a:rPr lang="en-US" sz="2000" b="1" dirty="0">
                <a:latin typeface="Leelawadee UI" panose="020B0502040204020203" pitchFamily="34" charset="-34"/>
                <a:cs typeface="Leelawadee UI" panose="020B0502040204020203" pitchFamily="34" charset="-34"/>
              </a:rPr>
              <a:t> </a:t>
            </a:r>
            <a:r>
              <a:rPr lang="en-US" sz="2000" b="1" dirty="0" err="1">
                <a:latin typeface="Leelawadee UI" panose="020B0502040204020203" pitchFamily="34" charset="-34"/>
                <a:cs typeface="Leelawadee UI" panose="020B0502040204020203" pitchFamily="34" charset="-34"/>
              </a:rPr>
              <a:t>trình</a:t>
            </a:r>
            <a:r>
              <a:rPr lang="en-US" sz="2000" b="1" dirty="0">
                <a:latin typeface="Leelawadee UI" panose="020B0502040204020203" pitchFamily="34" charset="-34"/>
                <a:cs typeface="Leelawadee UI" panose="020B0502040204020203" pitchFamily="34" charset="-34"/>
              </a:rPr>
              <a:t> AI </a:t>
            </a:r>
            <a:r>
              <a:rPr lang="en-US" sz="2000" b="1" dirty="0" err="1">
                <a:latin typeface="Leelawadee UI" panose="020B0502040204020203" pitchFamily="34" charset="-34"/>
                <a:cs typeface="Leelawadee UI" panose="020B0502040204020203" pitchFamily="34" charset="-34"/>
              </a:rPr>
              <a:t>thực</a:t>
            </a:r>
            <a:r>
              <a:rPr lang="en-US" sz="2000" b="1" dirty="0">
                <a:latin typeface="Leelawadee UI" panose="020B0502040204020203" pitchFamily="34" charset="-34"/>
                <a:cs typeface="Leelawadee UI" panose="020B0502040204020203" pitchFamily="34" charset="-34"/>
              </a:rPr>
              <a:t> </a:t>
            </a:r>
            <a:r>
              <a:rPr lang="en-US" sz="2000" b="1" dirty="0" err="1">
                <a:latin typeface="Leelawadee UI" panose="020B0502040204020203" pitchFamily="34" charset="-34"/>
                <a:cs typeface="Leelawadee UI" panose="020B0502040204020203" pitchFamily="34" charset="-34"/>
              </a:rPr>
              <a:t>chiến</a:t>
            </a:r>
            <a:r>
              <a:rPr lang="en-US" sz="2000" b="1" dirty="0">
                <a:latin typeface="Leelawadee UI" panose="020B0502040204020203" pitchFamily="34" charset="-34"/>
                <a:cs typeface="Leelawadee UI" panose="020B0502040204020203" pitchFamily="34" charset="-34"/>
              </a:rPr>
              <a:t>, Batch 02</a:t>
            </a:r>
          </a:p>
          <a:p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0287"/>
            <a:ext cx="18288000" cy="1254146"/>
            <a:chOff x="0" y="0"/>
            <a:chExt cx="3762963" cy="25805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62963" cy="258055"/>
            </a:xfrm>
            <a:custGeom>
              <a:avLst/>
              <a:gdLst/>
              <a:ahLst/>
              <a:cxnLst/>
              <a:rect l="l" t="t" r="r" b="b"/>
              <a:pathLst>
                <a:path w="3762963" h="258055">
                  <a:moveTo>
                    <a:pt x="0" y="0"/>
                  </a:moveTo>
                  <a:lnTo>
                    <a:pt x="3762963" y="0"/>
                  </a:lnTo>
                  <a:lnTo>
                    <a:pt x="3762963" y="258055"/>
                  </a:lnTo>
                  <a:lnTo>
                    <a:pt x="0" y="258055"/>
                  </a:lnTo>
                  <a:close/>
                </a:path>
              </a:pathLst>
            </a:custGeom>
            <a:solidFill>
              <a:srgbClr val="EA0A2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3762963" cy="2675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6561807" y="340119"/>
            <a:ext cx="1114652" cy="594481"/>
          </a:xfrm>
          <a:custGeom>
            <a:avLst/>
            <a:gdLst/>
            <a:ahLst/>
            <a:cxnLst/>
            <a:rect l="l" t="t" r="r" b="b"/>
            <a:pathLst>
              <a:path w="1114652" h="594481">
                <a:moveTo>
                  <a:pt x="0" y="0"/>
                </a:moveTo>
                <a:lnTo>
                  <a:pt x="1114652" y="0"/>
                </a:lnTo>
                <a:lnTo>
                  <a:pt x="1114652" y="594481"/>
                </a:lnTo>
                <a:lnTo>
                  <a:pt x="0" y="5944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9164AA-7E89-01E0-5C3A-FB83321D0B0A}"/>
              </a:ext>
            </a:extLst>
          </p:cNvPr>
          <p:cNvSpPr txBox="1"/>
          <p:nvPr/>
        </p:nvSpPr>
        <p:spPr>
          <a:xfrm>
            <a:off x="455259" y="229493"/>
            <a:ext cx="12725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ĐẶT VẤN ĐỀ</a:t>
            </a:r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E2B4FCC6-310D-4714-8812-CD423067A8D9}"/>
              </a:ext>
            </a:extLst>
          </p:cNvPr>
          <p:cNvSpPr/>
          <p:nvPr/>
        </p:nvSpPr>
        <p:spPr>
          <a:xfrm>
            <a:off x="752060" y="1897193"/>
            <a:ext cx="8092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ED1B2F"/>
                </a:solidFill>
              </a:rPr>
              <a:t>CUSTOMER TARGETING</a:t>
            </a:r>
            <a:endParaRPr lang="en-US" sz="3000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FE5B2B13-97AA-4CE1-AAD1-0B158AA6A568}"/>
              </a:ext>
            </a:extLst>
          </p:cNvPr>
          <p:cNvSpPr/>
          <p:nvPr/>
        </p:nvSpPr>
        <p:spPr>
          <a:xfrm>
            <a:off x="756543" y="2666842"/>
            <a:ext cx="13802139" cy="5899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2800" b="1" dirty="0">
                <a:solidFill>
                  <a:srgbClr val="222222"/>
                </a:solidFill>
              </a:rPr>
              <a:t>Ngân sách campaign giới hạn → cần chọn đúng khách hàng để target.</a:t>
            </a:r>
            <a:endParaRPr lang="en-US" sz="280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E66263C-32F9-4D43-AB06-2FA7DFF30CF7}"/>
              </a:ext>
            </a:extLst>
          </p:cNvPr>
          <p:cNvGrpSpPr/>
          <p:nvPr/>
        </p:nvGrpSpPr>
        <p:grpSpPr>
          <a:xfrm>
            <a:off x="1198173" y="3905465"/>
            <a:ext cx="6747652" cy="1875612"/>
            <a:chOff x="850392" y="2798064"/>
            <a:chExt cx="3813048" cy="1289304"/>
          </a:xfrm>
        </p:grpSpPr>
        <p:sp>
          <p:nvSpPr>
            <p:cNvPr id="13" name="Shape 7">
              <a:extLst>
                <a:ext uri="{FF2B5EF4-FFF2-40B4-BE49-F238E27FC236}">
                  <a16:creationId xmlns:a16="http://schemas.microsoft.com/office/drawing/2014/main" id="{863C7459-3299-46D2-992D-9E3DED8A1CF6}"/>
                </a:ext>
              </a:extLst>
            </p:cNvPr>
            <p:cNvSpPr/>
            <p:nvPr/>
          </p:nvSpPr>
          <p:spPr>
            <a:xfrm>
              <a:off x="850392" y="2798064"/>
              <a:ext cx="3813048" cy="1289304"/>
            </a:xfrm>
            <a:prstGeom prst="roundRect">
              <a:avLst>
                <a:gd name="adj" fmla="val 9574"/>
              </a:avLst>
            </a:prstGeom>
            <a:solidFill>
              <a:srgbClr val="F6F6F6"/>
            </a:solidFill>
            <a:ln w="9525">
              <a:solidFill>
                <a:srgbClr val="D9D9D9"/>
              </a:solidFill>
              <a:prstDash val="solid"/>
            </a:ln>
          </p:spPr>
        </p:sp>
        <p:sp>
          <p:nvSpPr>
            <p:cNvPr id="14" name="Text 8">
              <a:extLst>
                <a:ext uri="{FF2B5EF4-FFF2-40B4-BE49-F238E27FC236}">
                  <a16:creationId xmlns:a16="http://schemas.microsoft.com/office/drawing/2014/main" id="{1649BEBB-F202-4FDF-8AF9-013A6ADF0B94}"/>
                </a:ext>
              </a:extLst>
            </p:cNvPr>
            <p:cNvSpPr/>
            <p:nvPr/>
          </p:nvSpPr>
          <p:spPr>
            <a:xfrm>
              <a:off x="1078992" y="2931161"/>
              <a:ext cx="3209544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800" b="1" dirty="0">
                  <a:solidFill>
                    <a:srgbClr val="ED1B2F"/>
                  </a:solidFill>
                </a:rPr>
                <a:t>Response Modeling</a:t>
              </a:r>
              <a:endParaRPr lang="en-US" sz="2800" dirty="0"/>
            </a:p>
          </p:txBody>
        </p:sp>
        <p:sp>
          <p:nvSpPr>
            <p:cNvPr id="15" name="Text 9">
              <a:extLst>
                <a:ext uri="{FF2B5EF4-FFF2-40B4-BE49-F238E27FC236}">
                  <a16:creationId xmlns:a16="http://schemas.microsoft.com/office/drawing/2014/main" id="{8F52155F-DA5C-42A3-943C-9623E20C6C1D}"/>
                </a:ext>
              </a:extLst>
            </p:cNvPr>
            <p:cNvSpPr/>
            <p:nvPr/>
          </p:nvSpPr>
          <p:spPr>
            <a:xfrm>
              <a:off x="862274" y="3378556"/>
              <a:ext cx="3779656" cy="4800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2800" dirty="0">
                  <a:solidFill>
                    <a:srgbClr val="222222"/>
                  </a:solidFill>
                </a:rPr>
                <a:t>Chọn khách hàng có khả năng phản hồi cao.</a:t>
              </a:r>
              <a:endParaRPr lang="en-US" sz="280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C0E25B7-88FD-478E-9167-2133934604D8}"/>
              </a:ext>
            </a:extLst>
          </p:cNvPr>
          <p:cNvGrpSpPr/>
          <p:nvPr/>
        </p:nvGrpSpPr>
        <p:grpSpPr>
          <a:xfrm>
            <a:off x="9791414" y="3865274"/>
            <a:ext cx="6778489" cy="1915803"/>
            <a:chOff x="5160169" y="2798064"/>
            <a:chExt cx="3813048" cy="1289304"/>
          </a:xfrm>
        </p:grpSpPr>
        <p:sp>
          <p:nvSpPr>
            <p:cNvPr id="17" name="Shape 10">
              <a:extLst>
                <a:ext uri="{FF2B5EF4-FFF2-40B4-BE49-F238E27FC236}">
                  <a16:creationId xmlns:a16="http://schemas.microsoft.com/office/drawing/2014/main" id="{219E1B59-187B-4CFF-AF2B-204F5D78DA72}"/>
                </a:ext>
              </a:extLst>
            </p:cNvPr>
            <p:cNvSpPr/>
            <p:nvPr/>
          </p:nvSpPr>
          <p:spPr>
            <a:xfrm>
              <a:off x="5160169" y="2798064"/>
              <a:ext cx="3813048" cy="1289304"/>
            </a:xfrm>
            <a:prstGeom prst="roundRect">
              <a:avLst>
                <a:gd name="adj" fmla="val 9574"/>
              </a:avLst>
            </a:prstGeom>
            <a:solidFill>
              <a:srgbClr val="F6F6F6"/>
            </a:solidFill>
            <a:ln w="9525">
              <a:solidFill>
                <a:srgbClr val="D9D9D9"/>
              </a:solidFill>
              <a:prstDash val="solid"/>
            </a:ln>
          </p:spPr>
        </p:sp>
        <p:sp>
          <p:nvSpPr>
            <p:cNvPr id="18" name="Text 11">
              <a:extLst>
                <a:ext uri="{FF2B5EF4-FFF2-40B4-BE49-F238E27FC236}">
                  <a16:creationId xmlns:a16="http://schemas.microsoft.com/office/drawing/2014/main" id="{25FF530D-FE9F-4F77-A34F-59A26BF8F44F}"/>
                </a:ext>
              </a:extLst>
            </p:cNvPr>
            <p:cNvSpPr/>
            <p:nvPr/>
          </p:nvSpPr>
          <p:spPr>
            <a:xfrm>
              <a:off x="5397134" y="2931161"/>
              <a:ext cx="3209544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800" b="1" dirty="0">
                  <a:solidFill>
                    <a:srgbClr val="ED1B2F"/>
                  </a:solidFill>
                </a:rPr>
                <a:t>Uplift Modeling</a:t>
              </a:r>
              <a:endParaRPr lang="en-US" sz="2800" dirty="0"/>
            </a:p>
          </p:txBody>
        </p:sp>
        <p:sp>
          <p:nvSpPr>
            <p:cNvPr id="19" name="Text 12">
              <a:extLst>
                <a:ext uri="{FF2B5EF4-FFF2-40B4-BE49-F238E27FC236}">
                  <a16:creationId xmlns:a16="http://schemas.microsoft.com/office/drawing/2014/main" id="{9602DB99-74CC-4B40-8EE9-6DAEBAD3493E}"/>
                </a:ext>
              </a:extLst>
            </p:cNvPr>
            <p:cNvSpPr/>
            <p:nvPr/>
          </p:nvSpPr>
          <p:spPr>
            <a:xfrm>
              <a:off x="5353077" y="3350601"/>
              <a:ext cx="3429274" cy="5212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2800" dirty="0">
                  <a:solidFill>
                    <a:srgbClr val="222222"/>
                  </a:solidFill>
                </a:rPr>
                <a:t>Chọn khách hàng thay đổi hành vi do campaign.</a:t>
              </a:r>
              <a:endParaRPr lang="en-US" sz="2800" dirty="0"/>
            </a:p>
          </p:txBody>
        </p:sp>
      </p:grpSp>
      <p:sp>
        <p:nvSpPr>
          <p:cNvPr id="24" name="Text 14">
            <a:extLst>
              <a:ext uri="{FF2B5EF4-FFF2-40B4-BE49-F238E27FC236}">
                <a16:creationId xmlns:a16="http://schemas.microsoft.com/office/drawing/2014/main" id="{9DE53930-A4F3-492C-B4B8-E04A0BBA08E5}"/>
              </a:ext>
            </a:extLst>
          </p:cNvPr>
          <p:cNvSpPr/>
          <p:nvPr/>
        </p:nvSpPr>
        <p:spPr>
          <a:xfrm>
            <a:off x="881563" y="6512451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ED1B2F"/>
                </a:solidFill>
                <a:latin typeface="Leelawadee UI" panose="020B0502040204020203" pitchFamily="34" charset="-34"/>
              </a:rPr>
              <a:t>HƯỚNG TIẾP </a:t>
            </a:r>
            <a:r>
              <a:rPr lang="en-US" sz="2800" b="1" dirty="0">
                <a:solidFill>
                  <a:srgbClr val="ED1B2F"/>
                </a:solidFill>
              </a:rPr>
              <a:t>CẬN</a:t>
            </a:r>
            <a:endParaRPr lang="en-US" sz="2800" dirty="0"/>
          </a:p>
        </p:txBody>
      </p:sp>
      <p:sp>
        <p:nvSpPr>
          <p:cNvPr id="25" name="Text 15">
            <a:extLst>
              <a:ext uri="{FF2B5EF4-FFF2-40B4-BE49-F238E27FC236}">
                <a16:creationId xmlns:a16="http://schemas.microsoft.com/office/drawing/2014/main" id="{5480B7A1-BEAB-4B8F-A06E-8D9115B2070A}"/>
              </a:ext>
            </a:extLst>
          </p:cNvPr>
          <p:cNvSpPr/>
          <p:nvPr/>
        </p:nvSpPr>
        <p:spPr>
          <a:xfrm>
            <a:off x="4141172" y="6429756"/>
            <a:ext cx="128778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2400" dirty="0">
                <a:latin typeface="Leelawadee UI" panose="020B0502040204020203" pitchFamily="34" charset="-34"/>
              </a:rPr>
              <a:t>Chuẩn hóa cách đánh giá </a:t>
            </a:r>
            <a:r>
              <a:rPr lang="en-US" sz="2400" dirty="0"/>
              <a:t>sau</a:t>
            </a:r>
            <a:r>
              <a:rPr lang="en-US" sz="2400" dirty="0">
                <a:latin typeface="Leelawadee UI" panose="020B0502040204020203" pitchFamily="34" charset="-34"/>
              </a:rPr>
              <a:t> khi từng dataset đã được xử lý đúng cho bài toán uplift.</a:t>
            </a: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87A16501-8B97-4EBA-BBE5-6634A890ACB5}"/>
              </a:ext>
            </a:extLst>
          </p:cNvPr>
          <p:cNvGrpSpPr/>
          <p:nvPr/>
        </p:nvGrpSpPr>
        <p:grpSpPr>
          <a:xfrm>
            <a:off x="2062700" y="7446564"/>
            <a:ext cx="13563600" cy="1962687"/>
            <a:chOff x="2362201" y="7219693"/>
            <a:chExt cx="13563600" cy="1962687"/>
          </a:xfrm>
        </p:grpSpPr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1C5F4F93-E266-4809-B959-E07A143319AC}"/>
                </a:ext>
              </a:extLst>
            </p:cNvPr>
            <p:cNvGrpSpPr/>
            <p:nvPr/>
          </p:nvGrpSpPr>
          <p:grpSpPr>
            <a:xfrm>
              <a:off x="3733800" y="7219693"/>
              <a:ext cx="10820400" cy="466344"/>
              <a:chOff x="3849624" y="7810500"/>
              <a:chExt cx="8266176" cy="310896"/>
            </a:xfrm>
          </p:grpSpPr>
          <p:sp>
            <p:nvSpPr>
              <p:cNvPr id="45" name="Shape 15">
                <a:extLst>
                  <a:ext uri="{FF2B5EF4-FFF2-40B4-BE49-F238E27FC236}">
                    <a16:creationId xmlns:a16="http://schemas.microsoft.com/office/drawing/2014/main" id="{7025111E-E867-4F66-B1FE-8180EB9460C0}"/>
                  </a:ext>
                </a:extLst>
              </p:cNvPr>
              <p:cNvSpPr/>
              <p:nvPr/>
            </p:nvSpPr>
            <p:spPr>
              <a:xfrm>
                <a:off x="3849624" y="7810500"/>
                <a:ext cx="310896" cy="310896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EC0029"/>
                </a:solidFill>
                <a:prstDash val="solid"/>
              </a:ln>
            </p:spPr>
            <p:txBody>
              <a:bodyPr anchor="ctr"/>
              <a:lstStyle/>
              <a:p>
                <a:pPr algn="ctr"/>
                <a:r>
                  <a:rPr lang="en-US" sz="1600" dirty="0">
                    <a:solidFill>
                      <a:srgbClr val="FF0000"/>
                    </a:solidFill>
                  </a:rPr>
                  <a:t>1</a:t>
                </a:r>
              </a:p>
            </p:txBody>
          </p:sp>
          <p:sp>
            <p:nvSpPr>
              <p:cNvPr id="46" name="Shape 17">
                <a:extLst>
                  <a:ext uri="{FF2B5EF4-FFF2-40B4-BE49-F238E27FC236}">
                    <a16:creationId xmlns:a16="http://schemas.microsoft.com/office/drawing/2014/main" id="{D91E9D70-029C-4934-AE88-57ED2794CC5F}"/>
                  </a:ext>
                </a:extLst>
              </p:cNvPr>
              <p:cNvSpPr/>
              <p:nvPr/>
            </p:nvSpPr>
            <p:spPr>
              <a:xfrm>
                <a:off x="4242816" y="7965948"/>
                <a:ext cx="2176272" cy="0"/>
              </a:xfrm>
              <a:prstGeom prst="line">
                <a:avLst/>
              </a:prstGeom>
              <a:noFill/>
              <a:ln w="13970">
                <a:solidFill>
                  <a:srgbClr val="EC0029"/>
                </a:solidFill>
                <a:prstDash val="solid"/>
                <a:headEnd type="none"/>
                <a:tailEnd type="triangle"/>
              </a:ln>
            </p:spPr>
          </p:sp>
          <p:sp>
            <p:nvSpPr>
              <p:cNvPr id="47" name="Shape 20">
                <a:extLst>
                  <a:ext uri="{FF2B5EF4-FFF2-40B4-BE49-F238E27FC236}">
                    <a16:creationId xmlns:a16="http://schemas.microsoft.com/office/drawing/2014/main" id="{2057F691-1CF2-42FF-8B05-E7754C8AFB68}"/>
                  </a:ext>
                </a:extLst>
              </p:cNvPr>
              <p:cNvSpPr/>
              <p:nvPr/>
            </p:nvSpPr>
            <p:spPr>
              <a:xfrm>
                <a:off x="6501384" y="7810500"/>
                <a:ext cx="310896" cy="310896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EC0029"/>
                </a:solidFill>
                <a:prstDash val="solid"/>
              </a:ln>
            </p:spPr>
            <p:txBody>
              <a:bodyPr anchor="ctr"/>
              <a:lstStyle/>
              <a:p>
                <a:r>
                  <a:rPr lang="en-US" sz="1600" dirty="0">
                    <a:solidFill>
                      <a:srgbClr val="FF0000"/>
                    </a:solidFill>
                  </a:rPr>
                  <a:t>2</a:t>
                </a:r>
                <a:endParaRPr lang="en-US" sz="1600" dirty="0"/>
              </a:p>
            </p:txBody>
          </p:sp>
          <p:sp>
            <p:nvSpPr>
              <p:cNvPr id="48" name="Shape 22">
                <a:extLst>
                  <a:ext uri="{FF2B5EF4-FFF2-40B4-BE49-F238E27FC236}">
                    <a16:creationId xmlns:a16="http://schemas.microsoft.com/office/drawing/2014/main" id="{FA88D336-3A43-4723-B925-E0BE14CFA392}"/>
                  </a:ext>
                </a:extLst>
              </p:cNvPr>
              <p:cNvSpPr/>
              <p:nvPr/>
            </p:nvSpPr>
            <p:spPr>
              <a:xfrm>
                <a:off x="6894576" y="7965948"/>
                <a:ext cx="2176272" cy="0"/>
              </a:xfrm>
              <a:prstGeom prst="line">
                <a:avLst/>
              </a:prstGeom>
              <a:noFill/>
              <a:ln w="13970">
                <a:solidFill>
                  <a:srgbClr val="EC0029"/>
                </a:solidFill>
                <a:prstDash val="solid"/>
                <a:headEnd type="none"/>
                <a:tailEnd type="triangle"/>
              </a:ln>
            </p:spPr>
          </p:sp>
          <p:sp>
            <p:nvSpPr>
              <p:cNvPr id="49" name="Shape 25">
                <a:extLst>
                  <a:ext uri="{FF2B5EF4-FFF2-40B4-BE49-F238E27FC236}">
                    <a16:creationId xmlns:a16="http://schemas.microsoft.com/office/drawing/2014/main" id="{7B641DDD-BF43-4FF5-9ACA-84658AE76B2B}"/>
                  </a:ext>
                </a:extLst>
              </p:cNvPr>
              <p:cNvSpPr/>
              <p:nvPr/>
            </p:nvSpPr>
            <p:spPr>
              <a:xfrm>
                <a:off x="9153144" y="7810500"/>
                <a:ext cx="310896" cy="310896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EC0029"/>
                </a:solidFill>
                <a:prstDash val="solid"/>
              </a:ln>
            </p:spPr>
            <p:txBody>
              <a:bodyPr anchor="ctr"/>
              <a:lstStyle/>
              <a:p>
                <a:r>
                  <a:rPr lang="en-US" sz="1600" dirty="0">
                    <a:solidFill>
                      <a:srgbClr val="FF0000"/>
                    </a:solidFill>
                  </a:rPr>
                  <a:t>3</a:t>
                </a:r>
                <a:endParaRPr lang="en-US" sz="1600" dirty="0"/>
              </a:p>
            </p:txBody>
          </p:sp>
          <p:sp>
            <p:nvSpPr>
              <p:cNvPr id="50" name="Shape 27">
                <a:extLst>
                  <a:ext uri="{FF2B5EF4-FFF2-40B4-BE49-F238E27FC236}">
                    <a16:creationId xmlns:a16="http://schemas.microsoft.com/office/drawing/2014/main" id="{595A4B6A-FA3D-4AB1-96B1-DFC2CE21A763}"/>
                  </a:ext>
                </a:extLst>
              </p:cNvPr>
              <p:cNvSpPr/>
              <p:nvPr/>
            </p:nvSpPr>
            <p:spPr>
              <a:xfrm>
                <a:off x="9546336" y="7965948"/>
                <a:ext cx="2176272" cy="0"/>
              </a:xfrm>
              <a:prstGeom prst="line">
                <a:avLst/>
              </a:prstGeom>
              <a:noFill/>
              <a:ln w="13970">
                <a:solidFill>
                  <a:srgbClr val="EC0029"/>
                </a:solidFill>
                <a:prstDash val="solid"/>
                <a:headEnd type="none"/>
                <a:tailEnd type="triangle"/>
              </a:ln>
            </p:spPr>
          </p:sp>
          <p:sp>
            <p:nvSpPr>
              <p:cNvPr id="51" name="Shape 30">
                <a:extLst>
                  <a:ext uri="{FF2B5EF4-FFF2-40B4-BE49-F238E27FC236}">
                    <a16:creationId xmlns:a16="http://schemas.microsoft.com/office/drawing/2014/main" id="{8C7EE3E0-E996-44E7-8999-1A2235616AE2}"/>
                  </a:ext>
                </a:extLst>
              </p:cNvPr>
              <p:cNvSpPr/>
              <p:nvPr/>
            </p:nvSpPr>
            <p:spPr>
              <a:xfrm>
                <a:off x="11804904" y="7810500"/>
                <a:ext cx="310896" cy="310896"/>
              </a:xfrm>
              <a:prstGeom prst="ellipse">
                <a:avLst/>
              </a:prstGeom>
              <a:solidFill>
                <a:srgbClr val="EC0029"/>
              </a:solidFill>
              <a:ln w="19050">
                <a:solidFill>
                  <a:srgbClr val="EC0029"/>
                </a:solidFill>
                <a:prstDash val="solid"/>
              </a:ln>
            </p:spPr>
            <p:txBody>
              <a:bodyPr anchor="ctr"/>
              <a:lstStyle/>
              <a:p>
                <a:r>
                  <a:rPr lang="en-US" sz="1600" dirty="0">
                    <a:solidFill>
                      <a:schemeClr val="bg1"/>
                    </a:solidFill>
                  </a:rPr>
                  <a:t>4</a:t>
                </a:r>
              </a:p>
            </p:txBody>
          </p:sp>
        </p:grpSp>
        <p:sp>
          <p:nvSpPr>
            <p:cNvPr id="61" name="Text 18">
              <a:extLst>
                <a:ext uri="{FF2B5EF4-FFF2-40B4-BE49-F238E27FC236}">
                  <a16:creationId xmlns:a16="http://schemas.microsoft.com/office/drawing/2014/main" id="{87B0B8E9-11A0-49C0-BCF3-B32812AA111E}"/>
                </a:ext>
              </a:extLst>
            </p:cNvPr>
            <p:cNvSpPr/>
            <p:nvPr/>
          </p:nvSpPr>
          <p:spPr>
            <a:xfrm>
              <a:off x="2362201" y="8006644"/>
              <a:ext cx="3212432" cy="30777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spAutoFit/>
            </a:bodyPr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2000" b="1" dirty="0">
                  <a:solidFill>
                    <a:srgbClr val="EC0029"/>
                  </a:solidFill>
                  <a:ea typeface="Aptos" pitchFamily="34" charset="-122"/>
                  <a:cs typeface="Aptos" pitchFamily="34" charset="-120"/>
                </a:rPr>
                <a:t>3 DATA SETTINGS</a:t>
              </a:r>
              <a:endParaRPr lang="en-US" sz="2000" dirty="0"/>
            </a:p>
          </p:txBody>
        </p:sp>
        <p:sp>
          <p:nvSpPr>
            <p:cNvPr id="62" name="Text 19">
              <a:extLst>
                <a:ext uri="{FF2B5EF4-FFF2-40B4-BE49-F238E27FC236}">
                  <a16:creationId xmlns:a16="http://schemas.microsoft.com/office/drawing/2014/main" id="{07DF6FDA-E888-419D-BB2E-30C2C372063E}"/>
                </a:ext>
              </a:extLst>
            </p:cNvPr>
            <p:cNvSpPr/>
            <p:nvPr/>
          </p:nvSpPr>
          <p:spPr>
            <a:xfrm>
              <a:off x="2362201" y="8480506"/>
              <a:ext cx="3212432" cy="70187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2200" dirty="0">
                  <a:ea typeface="Aptos" pitchFamily="34" charset="-122"/>
                  <a:cs typeface="Aptos" pitchFamily="34" charset="-120"/>
                </a:rPr>
                <a:t>Criteo · Hillstrom · RetailHero</a:t>
              </a:r>
              <a:endParaRPr lang="en-US" sz="2200" dirty="0"/>
            </a:p>
          </p:txBody>
        </p:sp>
        <p:sp>
          <p:nvSpPr>
            <p:cNvPr id="63" name="Text 23">
              <a:extLst>
                <a:ext uri="{FF2B5EF4-FFF2-40B4-BE49-F238E27FC236}">
                  <a16:creationId xmlns:a16="http://schemas.microsoft.com/office/drawing/2014/main" id="{748FD59D-8B2F-43FA-B0AB-DDED97546544}"/>
                </a:ext>
              </a:extLst>
            </p:cNvPr>
            <p:cNvSpPr/>
            <p:nvPr/>
          </p:nvSpPr>
          <p:spPr>
            <a:xfrm>
              <a:off x="5812590" y="8006645"/>
              <a:ext cx="3212432" cy="30777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spAutoFit/>
            </a:bodyPr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2000" b="1" dirty="0">
                  <a:solidFill>
                    <a:srgbClr val="EC0029"/>
                  </a:solidFill>
                  <a:ea typeface="Aptos" pitchFamily="34" charset="-122"/>
                  <a:cs typeface="Aptos" pitchFamily="34" charset="-120"/>
                </a:rPr>
                <a:t>DATASET-SPECIFIC</a:t>
              </a:r>
              <a:r>
                <a:rPr lang="en-US" sz="1050" b="1" dirty="0">
                  <a:solidFill>
                    <a:srgbClr val="EC0029"/>
                  </a:solidFill>
                  <a:ea typeface="Aptos" pitchFamily="34" charset="-122"/>
                  <a:cs typeface="Aptos" pitchFamily="34" charset="-120"/>
                </a:rPr>
                <a:t> </a:t>
              </a:r>
              <a:r>
                <a:rPr lang="en-US" sz="2000" b="1" dirty="0">
                  <a:solidFill>
                    <a:srgbClr val="EC0029"/>
                  </a:solidFill>
                  <a:ea typeface="Aptos" pitchFamily="34" charset="-122"/>
                  <a:cs typeface="Aptos" pitchFamily="34" charset="-120"/>
                </a:rPr>
                <a:t>DS</a:t>
              </a:r>
              <a:endParaRPr lang="en-US" sz="2000" dirty="0"/>
            </a:p>
          </p:txBody>
        </p:sp>
        <p:sp>
          <p:nvSpPr>
            <p:cNvPr id="64" name="Text 24">
              <a:extLst>
                <a:ext uri="{FF2B5EF4-FFF2-40B4-BE49-F238E27FC236}">
                  <a16:creationId xmlns:a16="http://schemas.microsoft.com/office/drawing/2014/main" id="{089FD779-1D6B-4865-AABD-F3D2B71A2966}"/>
                </a:ext>
              </a:extLst>
            </p:cNvPr>
            <p:cNvSpPr/>
            <p:nvPr/>
          </p:nvSpPr>
          <p:spPr>
            <a:xfrm>
              <a:off x="5812590" y="8480506"/>
              <a:ext cx="3212432" cy="70187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2200" dirty="0">
                  <a:ea typeface="Aptos" pitchFamily="34" charset="-122"/>
                  <a:cs typeface="Aptos" pitchFamily="34" charset="-120"/>
                </a:rPr>
                <a:t>treatment / outcome / leakage</a:t>
              </a:r>
              <a:endParaRPr lang="en-US" sz="2200" dirty="0"/>
            </a:p>
          </p:txBody>
        </p:sp>
        <p:sp>
          <p:nvSpPr>
            <p:cNvPr id="65" name="Text 28">
              <a:extLst>
                <a:ext uri="{FF2B5EF4-FFF2-40B4-BE49-F238E27FC236}">
                  <a16:creationId xmlns:a16="http://schemas.microsoft.com/office/drawing/2014/main" id="{35FB57FB-148A-4BCD-9B55-45DA45C0E269}"/>
                </a:ext>
              </a:extLst>
            </p:cNvPr>
            <p:cNvSpPr/>
            <p:nvPr/>
          </p:nvSpPr>
          <p:spPr>
            <a:xfrm>
              <a:off x="9262980" y="8006645"/>
              <a:ext cx="3212432" cy="30777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spAutoFit/>
            </a:bodyPr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2000" b="1" dirty="0">
                  <a:solidFill>
                    <a:srgbClr val="EC0029"/>
                  </a:solidFill>
                  <a:ea typeface="Aptos" pitchFamily="34" charset="-122"/>
                  <a:cs typeface="Aptos" pitchFamily="34" charset="-120"/>
                </a:rPr>
                <a:t>COMMON EVALUATION</a:t>
              </a:r>
              <a:endParaRPr lang="en-US" sz="2000" dirty="0"/>
            </a:p>
          </p:txBody>
        </p:sp>
        <p:sp>
          <p:nvSpPr>
            <p:cNvPr id="66" name="Text 29">
              <a:extLst>
                <a:ext uri="{FF2B5EF4-FFF2-40B4-BE49-F238E27FC236}">
                  <a16:creationId xmlns:a16="http://schemas.microsoft.com/office/drawing/2014/main" id="{BAD9C18F-B84B-497B-9FDA-708640A0CBD2}"/>
                </a:ext>
              </a:extLst>
            </p:cNvPr>
            <p:cNvSpPr/>
            <p:nvPr/>
          </p:nvSpPr>
          <p:spPr>
            <a:xfrm>
              <a:off x="9262980" y="8480506"/>
              <a:ext cx="3212432" cy="70187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2200" dirty="0">
                  <a:ea typeface="Aptos" pitchFamily="34" charset="-122"/>
                  <a:cs typeface="Aptos" pitchFamily="34" charset="-120"/>
                </a:rPr>
                <a:t>Top-K policy value  Bootstrap</a:t>
              </a:r>
              <a:endParaRPr lang="en-US" sz="2200" dirty="0"/>
            </a:p>
          </p:txBody>
        </p:sp>
        <p:sp>
          <p:nvSpPr>
            <p:cNvPr id="67" name="Text 32">
              <a:extLst>
                <a:ext uri="{FF2B5EF4-FFF2-40B4-BE49-F238E27FC236}">
                  <a16:creationId xmlns:a16="http://schemas.microsoft.com/office/drawing/2014/main" id="{1862D240-5D97-484A-9A99-A7BCCA47E958}"/>
                </a:ext>
              </a:extLst>
            </p:cNvPr>
            <p:cNvSpPr/>
            <p:nvPr/>
          </p:nvSpPr>
          <p:spPr>
            <a:xfrm>
              <a:off x="12713369" y="8006645"/>
              <a:ext cx="3212432" cy="30777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spAutoFit/>
            </a:bodyPr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2000" b="1" dirty="0">
                  <a:solidFill>
                    <a:srgbClr val="EC0029"/>
                  </a:solidFill>
                  <a:ea typeface="Aptos" pitchFamily="34" charset="-122"/>
                  <a:cs typeface="Aptos" pitchFamily="34" charset="-120"/>
                </a:rPr>
                <a:t>FINAL DECISION</a:t>
              </a:r>
              <a:endParaRPr lang="en-US" sz="2000" dirty="0"/>
            </a:p>
          </p:txBody>
        </p:sp>
        <p:sp>
          <p:nvSpPr>
            <p:cNvPr id="68" name="Text 33">
              <a:extLst>
                <a:ext uri="{FF2B5EF4-FFF2-40B4-BE49-F238E27FC236}">
                  <a16:creationId xmlns:a16="http://schemas.microsoft.com/office/drawing/2014/main" id="{06B5C245-10B0-41EA-8E0A-42B40AAD141B}"/>
                </a:ext>
              </a:extLst>
            </p:cNvPr>
            <p:cNvSpPr/>
            <p:nvPr/>
          </p:nvSpPr>
          <p:spPr>
            <a:xfrm>
              <a:off x="12713369" y="8480506"/>
              <a:ext cx="3212432" cy="70187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2200" dirty="0">
                  <a:solidFill>
                    <a:srgbClr val="222222"/>
                  </a:solidFill>
                  <a:ea typeface="Aptos" pitchFamily="34" charset="-122"/>
                  <a:cs typeface="Aptos" pitchFamily="34" charset="-120"/>
                </a:rPr>
                <a:t>Uplift vs Response</a:t>
              </a:r>
              <a:endParaRPr lang="en-US" sz="2200" dirty="0"/>
            </a:p>
          </p:txBody>
        </p:sp>
      </p:grpSp>
    </p:spTree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D489F-C645-FABA-5D58-FE8AE47E3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2ABBBDC-1B3F-E938-EE98-6D1CCA2D22AD}"/>
              </a:ext>
            </a:extLst>
          </p:cNvPr>
          <p:cNvGrpSpPr/>
          <p:nvPr/>
        </p:nvGrpSpPr>
        <p:grpSpPr>
          <a:xfrm>
            <a:off x="0" y="10287"/>
            <a:ext cx="18288000" cy="1254146"/>
            <a:chOff x="0" y="0"/>
            <a:chExt cx="3762963" cy="25805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8CD78F0-6D8A-ECE4-82E7-78C7A11E0FC3}"/>
                </a:ext>
              </a:extLst>
            </p:cNvPr>
            <p:cNvSpPr/>
            <p:nvPr/>
          </p:nvSpPr>
          <p:spPr>
            <a:xfrm>
              <a:off x="0" y="0"/>
              <a:ext cx="3762963" cy="258055"/>
            </a:xfrm>
            <a:custGeom>
              <a:avLst/>
              <a:gdLst/>
              <a:ahLst/>
              <a:cxnLst/>
              <a:rect l="l" t="t" r="r" b="b"/>
              <a:pathLst>
                <a:path w="3762963" h="258055">
                  <a:moveTo>
                    <a:pt x="0" y="0"/>
                  </a:moveTo>
                  <a:lnTo>
                    <a:pt x="3762963" y="0"/>
                  </a:lnTo>
                  <a:lnTo>
                    <a:pt x="3762963" y="258055"/>
                  </a:lnTo>
                  <a:lnTo>
                    <a:pt x="0" y="258055"/>
                  </a:lnTo>
                  <a:close/>
                </a:path>
              </a:pathLst>
            </a:custGeom>
            <a:solidFill>
              <a:srgbClr val="EA0A2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2B7DC59A-C084-28B7-5744-844D62DF45A4}"/>
                </a:ext>
              </a:extLst>
            </p:cNvPr>
            <p:cNvSpPr txBox="1"/>
            <p:nvPr/>
          </p:nvSpPr>
          <p:spPr>
            <a:xfrm>
              <a:off x="0" y="-9525"/>
              <a:ext cx="3762963" cy="2675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10206DDF-0E43-C9B7-F5DC-674E92183B20}"/>
              </a:ext>
            </a:extLst>
          </p:cNvPr>
          <p:cNvSpPr/>
          <p:nvPr/>
        </p:nvSpPr>
        <p:spPr>
          <a:xfrm>
            <a:off x="16561807" y="340119"/>
            <a:ext cx="1114652" cy="594481"/>
          </a:xfrm>
          <a:custGeom>
            <a:avLst/>
            <a:gdLst/>
            <a:ahLst/>
            <a:cxnLst/>
            <a:rect l="l" t="t" r="r" b="b"/>
            <a:pathLst>
              <a:path w="1114652" h="594481">
                <a:moveTo>
                  <a:pt x="0" y="0"/>
                </a:moveTo>
                <a:lnTo>
                  <a:pt x="1114652" y="0"/>
                </a:lnTo>
                <a:lnTo>
                  <a:pt x="1114652" y="594481"/>
                </a:lnTo>
                <a:lnTo>
                  <a:pt x="0" y="5944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A3B771-9E4F-80CB-171B-47995B06D974}"/>
              </a:ext>
            </a:extLst>
          </p:cNvPr>
          <p:cNvSpPr txBox="1"/>
          <p:nvPr/>
        </p:nvSpPr>
        <p:spPr>
          <a:xfrm>
            <a:off x="455259" y="229493"/>
            <a:ext cx="12725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CRITEO DATASET</a:t>
            </a:r>
          </a:p>
        </p:txBody>
      </p:sp>
      <p:sp>
        <p:nvSpPr>
          <p:cNvPr id="51" name="Shape 3">
            <a:extLst>
              <a:ext uri="{FF2B5EF4-FFF2-40B4-BE49-F238E27FC236}">
                <a16:creationId xmlns:a16="http://schemas.microsoft.com/office/drawing/2014/main" id="{0BB232D4-EACE-4CD7-8F2F-7059365526E4}"/>
              </a:ext>
            </a:extLst>
          </p:cNvPr>
          <p:cNvSpPr/>
          <p:nvPr/>
        </p:nvSpPr>
        <p:spPr>
          <a:xfrm>
            <a:off x="494315" y="1541552"/>
            <a:ext cx="7506686" cy="8515955"/>
          </a:xfrm>
          <a:prstGeom prst="roundRect">
            <a:avLst>
              <a:gd name="adj" fmla="val 1882"/>
            </a:avLst>
          </a:prstGeom>
          <a:solidFill>
            <a:srgbClr val="FFF3F5"/>
          </a:solidFill>
          <a:ln w="7620">
            <a:solidFill>
              <a:srgbClr val="FFF3F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6A59C62B-B68C-4977-A65A-17BB03DA77D7}"/>
              </a:ext>
            </a:extLst>
          </p:cNvPr>
          <p:cNvSpPr/>
          <p:nvPr/>
        </p:nvSpPr>
        <p:spPr>
          <a:xfrm>
            <a:off x="304800" y="1938634"/>
            <a:ext cx="4041290" cy="461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3000" b="1" kern="0" spc="120" dirty="0">
                <a:solidFill>
                  <a:srgbClr val="E6002D"/>
                </a:solidFill>
                <a:ea typeface="Arial" pitchFamily="34" charset="-122"/>
                <a:cs typeface="Arial" pitchFamily="34" charset="-120"/>
              </a:rPr>
              <a:t>DATA CONTEXT</a:t>
            </a:r>
            <a:endParaRPr lang="en-US" sz="300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6ACC9EA-1673-4684-B72A-0394A0FF292E}"/>
              </a:ext>
            </a:extLst>
          </p:cNvPr>
          <p:cNvGrpSpPr/>
          <p:nvPr/>
        </p:nvGrpSpPr>
        <p:grpSpPr>
          <a:xfrm>
            <a:off x="1955084" y="2836807"/>
            <a:ext cx="4782011" cy="923330"/>
            <a:chOff x="1403823" y="2772370"/>
            <a:chExt cx="4782011" cy="923330"/>
          </a:xfrm>
        </p:grpSpPr>
        <p:sp>
          <p:nvSpPr>
            <p:cNvPr id="32" name="Text 5">
              <a:extLst>
                <a:ext uri="{FF2B5EF4-FFF2-40B4-BE49-F238E27FC236}">
                  <a16:creationId xmlns:a16="http://schemas.microsoft.com/office/drawing/2014/main" id="{C3472080-A194-447B-BFE4-0210F1BD85DC}"/>
                </a:ext>
              </a:extLst>
            </p:cNvPr>
            <p:cNvSpPr/>
            <p:nvPr/>
          </p:nvSpPr>
          <p:spPr>
            <a:xfrm>
              <a:off x="1403823" y="2772370"/>
              <a:ext cx="2983553" cy="9233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spAutoFit/>
            </a:bodyPr>
            <a:lstStyle/>
            <a:p>
              <a:pPr marL="0" indent="0">
                <a:buNone/>
              </a:pPr>
              <a:r>
                <a:rPr lang="en-US" sz="6000" b="1" dirty="0">
                  <a:solidFill>
                    <a:srgbClr val="111111"/>
                  </a:solidFill>
                  <a:ea typeface="Arial" pitchFamily="34" charset="-122"/>
                  <a:cs typeface="Arial" pitchFamily="34" charset="-120"/>
                </a:rPr>
                <a:t>13.98M</a:t>
              </a:r>
              <a:endParaRPr lang="en-US" sz="6000" dirty="0"/>
            </a:p>
          </p:txBody>
        </p:sp>
        <p:sp>
          <p:nvSpPr>
            <p:cNvPr id="33" name="Text 6">
              <a:extLst>
                <a:ext uri="{FF2B5EF4-FFF2-40B4-BE49-F238E27FC236}">
                  <a16:creationId xmlns:a16="http://schemas.microsoft.com/office/drawing/2014/main" id="{B480B651-2669-4B9C-A524-A69E5F86FED7}"/>
                </a:ext>
              </a:extLst>
            </p:cNvPr>
            <p:cNvSpPr/>
            <p:nvPr/>
          </p:nvSpPr>
          <p:spPr>
            <a:xfrm>
              <a:off x="3721408" y="3118649"/>
              <a:ext cx="2464426" cy="43088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spAutoFit/>
            </a:bodyPr>
            <a:lstStyle/>
            <a:p>
              <a:pPr marL="0" indent="0" algn="ctr">
                <a:buNone/>
              </a:pPr>
              <a:r>
                <a:rPr lang="en-US" sz="2800" dirty="0">
                  <a:ea typeface="Arial" pitchFamily="34" charset="-122"/>
                  <a:cs typeface="Arial" pitchFamily="34" charset="-120"/>
                </a:rPr>
                <a:t>Observations</a:t>
              </a:r>
              <a:endParaRPr lang="en-US" sz="2800" dirty="0"/>
            </a:p>
          </p:txBody>
        </p:sp>
      </p:grpSp>
      <p:pic>
        <p:nvPicPr>
          <p:cNvPr id="59" name="Picture 58">
            <a:extLst>
              <a:ext uri="{FF2B5EF4-FFF2-40B4-BE49-F238E27FC236}">
                <a16:creationId xmlns:a16="http://schemas.microsoft.com/office/drawing/2014/main" id="{AADCAB99-161D-4B94-9B05-1AE6359F9A5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568"/>
          <a:stretch/>
        </p:blipFill>
        <p:spPr>
          <a:xfrm>
            <a:off x="1615185" y="6286500"/>
            <a:ext cx="5011578" cy="3494803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7B6923EE-3E11-4CF5-99FB-8CE661990B13}"/>
              </a:ext>
            </a:extLst>
          </p:cNvPr>
          <p:cNvSpPr txBox="1"/>
          <p:nvPr/>
        </p:nvSpPr>
        <p:spPr>
          <a:xfrm>
            <a:off x="8458200" y="3383841"/>
            <a:ext cx="9352940" cy="3901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222222"/>
                </a:solidFill>
                <a:latin typeface="Leelawadee UI" panose="020B0502040204020203" pitchFamily="34" charset="-34"/>
                <a:ea typeface="Arial" pitchFamily="34" charset="-122"/>
                <a:cs typeface="Arial" pitchFamily="34" charset="-120"/>
              </a:rPr>
              <a:t>Giữ</a:t>
            </a:r>
            <a:r>
              <a:rPr lang="en-US" sz="2400" dirty="0">
                <a:solidFill>
                  <a:srgbClr val="222222"/>
                </a:solidFill>
                <a:latin typeface="Leelawadee UI" panose="020B0502040204020203" pitchFamily="34" charset="-34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222222"/>
                </a:solidFill>
                <a:latin typeface="Leelawadee UI" panose="020B0502040204020203" pitchFamily="34" charset="-34"/>
                <a:ea typeface="Arial" pitchFamily="34" charset="-122"/>
                <a:cs typeface="Arial" pitchFamily="34" charset="-120"/>
              </a:rPr>
              <a:t>nguyên</a:t>
            </a:r>
            <a:r>
              <a:rPr lang="en-US" sz="2400" dirty="0">
                <a:solidFill>
                  <a:srgbClr val="222222"/>
                </a:solidFill>
                <a:latin typeface="Leelawadee UI" panose="020B0502040204020203" pitchFamily="34" charset="-34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222222"/>
                </a:solidFill>
                <a:latin typeface="Leelawadee UI" panose="020B0502040204020203" pitchFamily="34" charset="-34"/>
                <a:ea typeface="Arial" pitchFamily="34" charset="-122"/>
                <a:cs typeface="Arial" pitchFamily="34" charset="-120"/>
              </a:rPr>
              <a:t>phân</a:t>
            </a:r>
            <a:r>
              <a:rPr lang="en-US" sz="2400" dirty="0">
                <a:solidFill>
                  <a:srgbClr val="222222"/>
                </a:solidFill>
                <a:latin typeface="Leelawadee UI" panose="020B0502040204020203" pitchFamily="34" charset="-34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222222"/>
                </a:solidFill>
                <a:latin typeface="Leelawadee UI" panose="020B0502040204020203" pitchFamily="34" charset="-34"/>
                <a:ea typeface="Arial" pitchFamily="34" charset="-122"/>
                <a:cs typeface="Arial" pitchFamily="34" charset="-120"/>
              </a:rPr>
              <a:t>phối</a:t>
            </a:r>
            <a:r>
              <a:rPr lang="en-US" sz="2400" dirty="0">
                <a:solidFill>
                  <a:srgbClr val="222222"/>
                </a:solidFill>
                <a:latin typeface="Leelawadee UI" panose="020B0502040204020203" pitchFamily="34" charset="-34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222222"/>
                </a:solidFill>
                <a:latin typeface="Leelawadee UI" panose="020B0502040204020203" pitchFamily="34" charset="-34"/>
                <a:ea typeface="Arial" pitchFamily="34" charset="-122"/>
                <a:cs typeface="Arial" pitchFamily="34" charset="-120"/>
              </a:rPr>
              <a:t>gốc</a:t>
            </a:r>
            <a:r>
              <a:rPr lang="en-US" sz="2400" dirty="0">
                <a:solidFill>
                  <a:srgbClr val="222222"/>
                </a:solidFill>
                <a:latin typeface="Leelawadee UI" panose="020B0502040204020203" pitchFamily="34" charset="-34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222222"/>
                </a:solidFill>
                <a:latin typeface="Leelawadee UI" panose="020B0502040204020203" pitchFamily="34" charset="-34"/>
                <a:ea typeface="Arial" pitchFamily="34" charset="-122"/>
                <a:cs typeface="Arial" pitchFamily="34" charset="-120"/>
              </a:rPr>
              <a:t>của</a:t>
            </a:r>
            <a:r>
              <a:rPr lang="en-US" sz="2400" dirty="0">
                <a:solidFill>
                  <a:srgbClr val="222222"/>
                </a:solidFill>
                <a:latin typeface="Leelawadee UI" panose="020B0502040204020203" pitchFamily="34" charset="-34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222222"/>
                </a:solidFill>
                <a:latin typeface="Leelawadee UI" panose="020B0502040204020203" pitchFamily="34" charset="-34"/>
                <a:ea typeface="Arial" pitchFamily="34" charset="-122"/>
                <a:cs typeface="Arial" pitchFamily="34" charset="-120"/>
              </a:rPr>
              <a:t>thí</a:t>
            </a:r>
            <a:r>
              <a:rPr lang="en-US" sz="2400" dirty="0">
                <a:solidFill>
                  <a:srgbClr val="222222"/>
                </a:solidFill>
                <a:latin typeface="Leelawadee UI" panose="020B0502040204020203" pitchFamily="34" charset="-34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222222"/>
                </a:solidFill>
                <a:latin typeface="Leelawadee UI" panose="020B0502040204020203" pitchFamily="34" charset="-34"/>
                <a:ea typeface="Arial" pitchFamily="34" charset="-122"/>
                <a:cs typeface="Arial" pitchFamily="34" charset="-120"/>
              </a:rPr>
              <a:t>nghiệm</a:t>
            </a:r>
            <a:r>
              <a:rPr lang="en-US" sz="2400" dirty="0">
                <a:solidFill>
                  <a:srgbClr val="222222"/>
                </a:solidFill>
                <a:latin typeface="Leelawadee UI" panose="020B0502040204020203" pitchFamily="34" charset="-34"/>
                <a:ea typeface="Arial" pitchFamily="34" charset="-122"/>
                <a:cs typeface="Arial" pitchFamily="34" charset="-120"/>
              </a:rPr>
              <a:t>, </a:t>
            </a:r>
            <a:r>
              <a:rPr lang="en-US" sz="2400" dirty="0" err="1">
                <a:solidFill>
                  <a:srgbClr val="111111"/>
                </a:solidFill>
                <a:latin typeface="Leelawadee UI" panose="020B0502040204020203" pitchFamily="34" charset="-34"/>
                <a:ea typeface="Arial" pitchFamily="34" charset="-122"/>
                <a:cs typeface="Arial" pitchFamily="34" charset="-120"/>
              </a:rPr>
              <a:t>không</a:t>
            </a:r>
            <a:r>
              <a:rPr lang="en-US" sz="2400" dirty="0">
                <a:solidFill>
                  <a:srgbClr val="111111"/>
                </a:solidFill>
                <a:latin typeface="Leelawadee UI" panose="020B0502040204020203" pitchFamily="34" charset="-34"/>
                <a:ea typeface="Arial" pitchFamily="34" charset="-122"/>
                <a:cs typeface="Arial" pitchFamily="34" charset="-120"/>
              </a:rPr>
              <a:t> rebalance</a:t>
            </a:r>
            <a:r>
              <a:rPr lang="en-US" sz="2400" dirty="0">
                <a:solidFill>
                  <a:srgbClr val="222222"/>
                </a:solidFill>
                <a:latin typeface="Leelawadee UI" panose="020B0502040204020203" pitchFamily="34" charset="-34"/>
                <a:ea typeface="Arial" pitchFamily="34" charset="-122"/>
                <a:cs typeface="Arial" pitchFamily="34" charset="-120"/>
              </a:rPr>
              <a:t>, </a:t>
            </a:r>
            <a:r>
              <a:rPr lang="en-US" sz="2400" dirty="0" err="1">
                <a:solidFill>
                  <a:srgbClr val="222222"/>
                </a:solidFill>
                <a:latin typeface="Leelawadee UI" panose="020B0502040204020203" pitchFamily="34" charset="-34"/>
                <a:ea typeface="Arial" pitchFamily="34" charset="-122"/>
                <a:cs typeface="Arial" pitchFamily="34" charset="-120"/>
              </a:rPr>
              <a:t>để</a:t>
            </a:r>
            <a:r>
              <a:rPr lang="en-US" sz="2400" dirty="0">
                <a:solidFill>
                  <a:srgbClr val="222222"/>
                </a:solidFill>
                <a:latin typeface="Leelawadee UI" panose="020B0502040204020203" pitchFamily="34" charset="-34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222222"/>
                </a:solidFill>
                <a:latin typeface="Leelawadee UI" panose="020B0502040204020203" pitchFamily="34" charset="-34"/>
                <a:ea typeface="Arial" pitchFamily="34" charset="-122"/>
                <a:cs typeface="Arial" pitchFamily="34" charset="-120"/>
              </a:rPr>
              <a:t>dữ</a:t>
            </a:r>
            <a:r>
              <a:rPr lang="en-US" sz="2400" dirty="0">
                <a:solidFill>
                  <a:srgbClr val="222222"/>
                </a:solidFill>
                <a:latin typeface="Leelawadee UI" panose="020B0502040204020203" pitchFamily="34" charset="-34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222222"/>
                </a:solidFill>
                <a:latin typeface="Leelawadee UI" panose="020B0502040204020203" pitchFamily="34" charset="-34"/>
                <a:ea typeface="Arial" pitchFamily="34" charset="-122"/>
                <a:cs typeface="Arial" pitchFamily="34" charset="-120"/>
              </a:rPr>
              <a:t>liệu</a:t>
            </a:r>
            <a:r>
              <a:rPr lang="en-US" sz="2400" dirty="0">
                <a:solidFill>
                  <a:srgbClr val="222222"/>
                </a:solidFill>
                <a:latin typeface="Leelawadee UI" panose="020B0502040204020203" pitchFamily="34" charset="-34"/>
                <a:ea typeface="Arial" pitchFamily="34" charset="-122"/>
                <a:cs typeface="Arial" pitchFamily="34" charset="-120"/>
              </a:rPr>
              <a:t> modeling </a:t>
            </a:r>
            <a:r>
              <a:rPr lang="en-US" sz="2400" dirty="0" err="1">
                <a:solidFill>
                  <a:srgbClr val="222222"/>
                </a:solidFill>
                <a:latin typeface="Leelawadee UI" panose="020B0502040204020203" pitchFamily="34" charset="-34"/>
                <a:ea typeface="Arial" pitchFamily="34" charset="-122"/>
                <a:cs typeface="Arial" pitchFamily="34" charset="-120"/>
              </a:rPr>
              <a:t>phản</a:t>
            </a:r>
            <a:r>
              <a:rPr lang="en-US" sz="2400" dirty="0">
                <a:solidFill>
                  <a:srgbClr val="222222"/>
                </a:solidFill>
                <a:latin typeface="Leelawadee UI" panose="020B0502040204020203" pitchFamily="34" charset="-34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222222"/>
                </a:solidFill>
                <a:latin typeface="Leelawadee UI" panose="020B0502040204020203" pitchFamily="34" charset="-34"/>
                <a:ea typeface="Arial" pitchFamily="34" charset="-122"/>
                <a:cs typeface="Arial" pitchFamily="34" charset="-120"/>
              </a:rPr>
              <a:t>ánh</a:t>
            </a:r>
            <a:r>
              <a:rPr lang="en-US" sz="2400" dirty="0">
                <a:solidFill>
                  <a:srgbClr val="222222"/>
                </a:solidFill>
                <a:latin typeface="Leelawadee UI" panose="020B0502040204020203" pitchFamily="34" charset="-34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222222"/>
                </a:solidFill>
                <a:latin typeface="Leelawadee UI" panose="020B0502040204020203" pitchFamily="34" charset="-34"/>
                <a:ea typeface="Arial" pitchFamily="34" charset="-122"/>
                <a:cs typeface="Arial" pitchFamily="34" charset="-120"/>
              </a:rPr>
              <a:t>đúng</a:t>
            </a:r>
            <a:r>
              <a:rPr lang="en-US" sz="2400" dirty="0">
                <a:solidFill>
                  <a:srgbClr val="222222"/>
                </a:solidFill>
                <a:latin typeface="Leelawadee UI" panose="020B0502040204020203" pitchFamily="34" charset="-34"/>
                <a:ea typeface="Arial" pitchFamily="34" charset="-122"/>
                <a:cs typeface="Arial" pitchFamily="34" charset="-120"/>
              </a:rPr>
              <a:t> treatment assignment ban </a:t>
            </a:r>
            <a:r>
              <a:rPr lang="en-US" sz="2400" dirty="0" err="1">
                <a:solidFill>
                  <a:srgbClr val="222222"/>
                </a:solidFill>
                <a:latin typeface="Leelawadee UI" panose="020B0502040204020203" pitchFamily="34" charset="-34"/>
                <a:ea typeface="Arial" pitchFamily="34" charset="-122"/>
                <a:cs typeface="Arial" pitchFamily="34" charset="-120"/>
              </a:rPr>
              <a:t>đầu</a:t>
            </a:r>
            <a:r>
              <a:rPr lang="en-US" sz="2400" dirty="0">
                <a:solidFill>
                  <a:srgbClr val="222222"/>
                </a:solidFill>
                <a:latin typeface="Leelawadee UI" panose="020B0502040204020203" pitchFamily="34" charset="-34"/>
                <a:ea typeface="Arial" pitchFamily="34" charset="-122"/>
                <a:cs typeface="Arial" pitchFamily="34" charset="-12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22222"/>
                </a:solidFill>
                <a:latin typeface="Leelawadee UI" panose="020B0502040204020203" pitchFamily="34" charset="-34"/>
                <a:ea typeface="Arial" pitchFamily="34" charset="-122"/>
                <a:cs typeface="Arial" pitchFamily="34" charset="-120"/>
              </a:rPr>
              <a:t>Chia Train / Validation / Test </a:t>
            </a:r>
            <a:r>
              <a:rPr lang="en-US" sz="2400" dirty="0" err="1">
                <a:solidFill>
                  <a:srgbClr val="222222"/>
                </a:solidFill>
                <a:latin typeface="Leelawadee UI" panose="020B0502040204020203" pitchFamily="34" charset="-34"/>
                <a:ea typeface="Arial" pitchFamily="34" charset="-122"/>
                <a:cs typeface="Arial" pitchFamily="34" charset="-120"/>
              </a:rPr>
              <a:t>theo</a:t>
            </a:r>
            <a:r>
              <a:rPr lang="en-US" sz="2400" dirty="0">
                <a:solidFill>
                  <a:srgbClr val="222222"/>
                </a:solidFill>
                <a:latin typeface="Leelawadee UI" panose="020B0502040204020203" pitchFamily="34" charset="-34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>
                <a:solidFill>
                  <a:srgbClr val="111111"/>
                </a:solidFill>
                <a:latin typeface="Leelawadee UI" panose="020B0502040204020203" pitchFamily="34" charset="-34"/>
                <a:ea typeface="Arial" pitchFamily="34" charset="-122"/>
                <a:cs typeface="Arial" pitchFamily="34" charset="-120"/>
              </a:rPr>
              <a:t>stratified Treatment × Outcome</a:t>
            </a:r>
            <a:r>
              <a:rPr lang="en-US" sz="2400" dirty="0">
                <a:solidFill>
                  <a:srgbClr val="222222"/>
                </a:solidFill>
                <a:latin typeface="Leelawadee UI" panose="020B0502040204020203" pitchFamily="34" charset="-34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222222"/>
                </a:solidFill>
                <a:latin typeface="Leelawadee UI" panose="020B0502040204020203" pitchFamily="34" charset="-34"/>
                <a:ea typeface="Arial" pitchFamily="34" charset="-122"/>
                <a:cs typeface="Arial" pitchFamily="34" charset="-120"/>
              </a:rPr>
              <a:t>để</a:t>
            </a:r>
            <a:r>
              <a:rPr lang="en-US" sz="2400" dirty="0">
                <a:solidFill>
                  <a:srgbClr val="222222"/>
                </a:solidFill>
                <a:latin typeface="Leelawadee UI" panose="020B0502040204020203" pitchFamily="34" charset="-34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222222"/>
                </a:solidFill>
                <a:latin typeface="Leelawadee UI" panose="020B0502040204020203" pitchFamily="34" charset="-34"/>
                <a:ea typeface="Arial" pitchFamily="34" charset="-122"/>
                <a:cs typeface="Arial" pitchFamily="34" charset="-120"/>
              </a:rPr>
              <a:t>các</a:t>
            </a:r>
            <a:r>
              <a:rPr lang="en-US" sz="2400" dirty="0">
                <a:solidFill>
                  <a:srgbClr val="222222"/>
                </a:solidFill>
                <a:latin typeface="Leelawadee UI" panose="020B0502040204020203" pitchFamily="34" charset="-34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222222"/>
                </a:solidFill>
                <a:latin typeface="Leelawadee UI" panose="020B0502040204020203" pitchFamily="34" charset="-34"/>
                <a:ea typeface="Arial" pitchFamily="34" charset="-122"/>
                <a:cs typeface="Arial" pitchFamily="34" charset="-120"/>
              </a:rPr>
              <a:t>nhóm</a:t>
            </a:r>
            <a:r>
              <a:rPr lang="en-US" sz="2400" dirty="0">
                <a:solidFill>
                  <a:srgbClr val="222222"/>
                </a:solidFill>
                <a:latin typeface="Leelawadee UI" panose="020B0502040204020203" pitchFamily="34" charset="-34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222222"/>
                </a:solidFill>
                <a:latin typeface="Leelawadee UI" panose="020B0502040204020203" pitchFamily="34" charset="-34"/>
                <a:ea typeface="Arial" pitchFamily="34" charset="-122"/>
                <a:cs typeface="Arial" pitchFamily="34" charset="-120"/>
              </a:rPr>
              <a:t>hiếm</a:t>
            </a:r>
            <a:r>
              <a:rPr lang="en-US" sz="2400" dirty="0">
                <a:solidFill>
                  <a:srgbClr val="222222"/>
                </a:solidFill>
                <a:latin typeface="Leelawadee UI" panose="020B0502040204020203" pitchFamily="34" charset="-34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222222"/>
                </a:solidFill>
                <a:latin typeface="Leelawadee UI" panose="020B0502040204020203" pitchFamily="34" charset="-34"/>
                <a:ea typeface="Arial" pitchFamily="34" charset="-122"/>
                <a:cs typeface="Arial" pitchFamily="34" charset="-120"/>
              </a:rPr>
              <a:t>được</a:t>
            </a:r>
            <a:r>
              <a:rPr lang="en-US" sz="2400" dirty="0">
                <a:solidFill>
                  <a:srgbClr val="222222"/>
                </a:solidFill>
                <a:latin typeface="Leelawadee UI" panose="020B0502040204020203" pitchFamily="34" charset="-34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222222"/>
                </a:solidFill>
                <a:latin typeface="Leelawadee UI" panose="020B0502040204020203" pitchFamily="34" charset="-34"/>
                <a:ea typeface="Arial" pitchFamily="34" charset="-122"/>
                <a:cs typeface="Arial" pitchFamily="34" charset="-120"/>
              </a:rPr>
              <a:t>giữ</a:t>
            </a:r>
            <a:r>
              <a:rPr lang="en-US" sz="2400" dirty="0">
                <a:solidFill>
                  <a:srgbClr val="222222"/>
                </a:solidFill>
                <a:latin typeface="Leelawadee UI" panose="020B0502040204020203" pitchFamily="34" charset="-34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222222"/>
                </a:solidFill>
                <a:latin typeface="Leelawadee UI" panose="020B0502040204020203" pitchFamily="34" charset="-34"/>
                <a:ea typeface="Arial" pitchFamily="34" charset="-122"/>
                <a:cs typeface="Arial" pitchFamily="34" charset="-120"/>
              </a:rPr>
              <a:t>tỷ</a:t>
            </a:r>
            <a:r>
              <a:rPr lang="en-US" sz="2400" dirty="0">
                <a:solidFill>
                  <a:srgbClr val="222222"/>
                </a:solidFill>
                <a:latin typeface="Leelawadee UI" panose="020B0502040204020203" pitchFamily="34" charset="-34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222222"/>
                </a:solidFill>
                <a:latin typeface="Leelawadee UI" panose="020B0502040204020203" pitchFamily="34" charset="-34"/>
                <a:ea typeface="Arial" pitchFamily="34" charset="-122"/>
                <a:cs typeface="Arial" pitchFamily="34" charset="-120"/>
              </a:rPr>
              <a:t>lệ</a:t>
            </a:r>
            <a:r>
              <a:rPr lang="en-US" sz="2400" dirty="0">
                <a:solidFill>
                  <a:srgbClr val="222222"/>
                </a:solidFill>
                <a:latin typeface="Leelawadee UI" panose="020B0502040204020203" pitchFamily="34" charset="-34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222222"/>
                </a:solidFill>
                <a:latin typeface="Leelawadee UI" panose="020B0502040204020203" pitchFamily="34" charset="-34"/>
                <a:ea typeface="Arial" pitchFamily="34" charset="-122"/>
                <a:cs typeface="Arial" pitchFamily="34" charset="-120"/>
              </a:rPr>
              <a:t>ổn</a:t>
            </a:r>
            <a:r>
              <a:rPr lang="en-US" sz="2400" dirty="0">
                <a:solidFill>
                  <a:srgbClr val="222222"/>
                </a:solidFill>
                <a:latin typeface="Leelawadee UI" panose="020B0502040204020203" pitchFamily="34" charset="-34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222222"/>
                </a:solidFill>
                <a:latin typeface="Leelawadee UI" panose="020B0502040204020203" pitchFamily="34" charset="-34"/>
                <a:ea typeface="Arial" pitchFamily="34" charset="-122"/>
                <a:cs typeface="Arial" pitchFamily="34" charset="-120"/>
              </a:rPr>
              <a:t>định</a:t>
            </a:r>
            <a:r>
              <a:rPr lang="en-US" sz="2400" dirty="0">
                <a:solidFill>
                  <a:srgbClr val="222222"/>
                </a:solidFill>
                <a:latin typeface="Leelawadee UI" panose="020B0502040204020203" pitchFamily="34" charset="-34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222222"/>
                </a:solidFill>
                <a:latin typeface="Leelawadee UI" panose="020B0502040204020203" pitchFamily="34" charset="-34"/>
                <a:ea typeface="Arial" pitchFamily="34" charset="-122"/>
                <a:cs typeface="Arial" pitchFamily="34" charset="-120"/>
              </a:rPr>
              <a:t>giữa</a:t>
            </a:r>
            <a:r>
              <a:rPr lang="en-US" sz="2400" dirty="0">
                <a:solidFill>
                  <a:srgbClr val="222222"/>
                </a:solidFill>
                <a:latin typeface="Leelawadee UI" panose="020B0502040204020203" pitchFamily="34" charset="-34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222222"/>
                </a:solidFill>
                <a:latin typeface="Leelawadee UI" panose="020B0502040204020203" pitchFamily="34" charset="-34"/>
                <a:ea typeface="Arial" pitchFamily="34" charset="-122"/>
                <a:cs typeface="Arial" pitchFamily="34" charset="-120"/>
              </a:rPr>
              <a:t>các</a:t>
            </a:r>
            <a:r>
              <a:rPr lang="en-US" sz="2400" dirty="0">
                <a:solidFill>
                  <a:srgbClr val="222222"/>
                </a:solidFill>
                <a:latin typeface="Leelawadee UI" panose="020B0502040204020203" pitchFamily="34" charset="-34"/>
                <a:ea typeface="Arial" pitchFamily="34" charset="-122"/>
                <a:cs typeface="Arial" pitchFamily="34" charset="-120"/>
              </a:rPr>
              <a:t> split.</a:t>
            </a:r>
            <a:endParaRPr lang="en-US" sz="2400" dirty="0">
              <a:latin typeface="Leelawadee UI" panose="020B0502040204020203" pitchFamily="34" charset="-34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222222"/>
                </a:solidFill>
                <a:latin typeface="Leelawadee UI" panose="020B0502040204020203" pitchFamily="34" charset="-34"/>
                <a:ea typeface="Arial" pitchFamily="34" charset="-122"/>
                <a:cs typeface="Arial" pitchFamily="34" charset="-120"/>
              </a:rPr>
              <a:t>Loại</a:t>
            </a:r>
            <a:r>
              <a:rPr lang="en-US" sz="2400" dirty="0">
                <a:solidFill>
                  <a:srgbClr val="222222"/>
                </a:solidFill>
                <a:latin typeface="Leelawadee UI" panose="020B0502040204020203" pitchFamily="34" charset="-34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>
                <a:solidFill>
                  <a:srgbClr val="111111"/>
                </a:solidFill>
                <a:latin typeface="Leelawadee UI" panose="020B0502040204020203" pitchFamily="34" charset="-34"/>
                <a:ea typeface="Arial" pitchFamily="34" charset="-122"/>
                <a:cs typeface="Arial" pitchFamily="34" charset="-120"/>
              </a:rPr>
              <a:t>exposure </a:t>
            </a:r>
            <a:r>
              <a:rPr lang="en-US" sz="2400" dirty="0" err="1">
                <a:solidFill>
                  <a:srgbClr val="222222"/>
                </a:solidFill>
                <a:latin typeface="Leelawadee UI" panose="020B0502040204020203" pitchFamily="34" charset="-34"/>
                <a:ea typeface="Arial" pitchFamily="34" charset="-122"/>
                <a:cs typeface="Arial" pitchFamily="34" charset="-120"/>
              </a:rPr>
              <a:t>khỏi</a:t>
            </a:r>
            <a:r>
              <a:rPr lang="en-US" sz="2400" dirty="0">
                <a:solidFill>
                  <a:srgbClr val="222222"/>
                </a:solidFill>
                <a:latin typeface="Leelawadee UI" panose="020B0502040204020203" pitchFamily="34" charset="-34"/>
                <a:ea typeface="Arial" pitchFamily="34" charset="-122"/>
                <a:cs typeface="Arial" pitchFamily="34" charset="-120"/>
              </a:rPr>
              <a:t> feature </a:t>
            </a:r>
            <a:r>
              <a:rPr lang="en-US" sz="2400" dirty="0" err="1">
                <a:solidFill>
                  <a:srgbClr val="222222"/>
                </a:solidFill>
                <a:latin typeface="Leelawadee UI" panose="020B0502040204020203" pitchFamily="34" charset="-34"/>
                <a:ea typeface="Arial" pitchFamily="34" charset="-122"/>
                <a:cs typeface="Arial" pitchFamily="34" charset="-120"/>
              </a:rPr>
              <a:t>để</a:t>
            </a:r>
            <a:r>
              <a:rPr lang="en-US" sz="2400" dirty="0">
                <a:solidFill>
                  <a:srgbClr val="222222"/>
                </a:solidFill>
                <a:latin typeface="Leelawadee UI" panose="020B0502040204020203" pitchFamily="34" charset="-34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222222"/>
                </a:solidFill>
                <a:latin typeface="Leelawadee UI" panose="020B0502040204020203" pitchFamily="34" charset="-34"/>
                <a:ea typeface="Arial" pitchFamily="34" charset="-122"/>
                <a:cs typeface="Arial" pitchFamily="34" charset="-120"/>
              </a:rPr>
              <a:t>tránh</a:t>
            </a:r>
            <a:r>
              <a:rPr lang="en-US" sz="2400" dirty="0">
                <a:solidFill>
                  <a:srgbClr val="222222"/>
                </a:solidFill>
                <a:latin typeface="Leelawadee UI" panose="020B0502040204020203" pitchFamily="34" charset="-34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222222"/>
                </a:solidFill>
                <a:latin typeface="Leelawadee UI" panose="020B0502040204020203" pitchFamily="34" charset="-34"/>
                <a:ea typeface="Arial" pitchFamily="34" charset="-122"/>
                <a:cs typeface="Arial" pitchFamily="34" charset="-120"/>
              </a:rPr>
              <a:t>gây</a:t>
            </a:r>
            <a:r>
              <a:rPr lang="en-US" sz="2400" dirty="0">
                <a:solidFill>
                  <a:srgbClr val="222222"/>
                </a:solidFill>
                <a:latin typeface="Leelawadee UI" panose="020B0502040204020203" pitchFamily="34" charset="-34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>
                <a:solidFill>
                  <a:srgbClr val="111111"/>
                </a:solidFill>
                <a:latin typeface="Leelawadee UI" panose="020B0502040204020203" pitchFamily="34" charset="-34"/>
                <a:ea typeface="Arial" pitchFamily="34" charset="-122"/>
                <a:cs typeface="Arial" pitchFamily="34" charset="-120"/>
              </a:rPr>
              <a:t>data leakage</a:t>
            </a:r>
            <a:r>
              <a:rPr lang="en-US" sz="2400" dirty="0">
                <a:solidFill>
                  <a:srgbClr val="222222"/>
                </a:solidFill>
                <a:latin typeface="Leelawadee UI" panose="020B0502040204020203" pitchFamily="34" charset="-34"/>
                <a:ea typeface="Arial" pitchFamily="34" charset="-122"/>
                <a:cs typeface="Arial" pitchFamily="34" charset="-120"/>
              </a:rPr>
              <a:t>.</a:t>
            </a:r>
            <a:endParaRPr lang="en-US" sz="2400" dirty="0">
              <a:latin typeface="Leelawadee UI" panose="020B0502040204020203" pitchFamily="34" charset="-34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400" dirty="0">
                <a:latin typeface="Leelawadee UI" panose="020B0502040204020203" pitchFamily="34" charset="-34"/>
              </a:rPr>
              <a:t>Visit và Conversion có mức độ khác nhau, nên được đánh giá như hai bài toán uplift riêng biệt.</a:t>
            </a:r>
            <a:endParaRPr lang="en-US" sz="2400" dirty="0">
              <a:latin typeface="Leelawadee UI" panose="020B0502040204020203" pitchFamily="34" charset="-34"/>
            </a:endParaRPr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794FA845-5988-44FD-9FEB-819D9B637114}"/>
              </a:ext>
            </a:extLst>
          </p:cNvPr>
          <p:cNvGrpSpPr/>
          <p:nvPr/>
        </p:nvGrpSpPr>
        <p:grpSpPr>
          <a:xfrm>
            <a:off x="990600" y="3952788"/>
            <a:ext cx="6403179" cy="2036287"/>
            <a:chOff x="627477" y="3920231"/>
            <a:chExt cx="6403179" cy="2036287"/>
          </a:xfrm>
        </p:grpSpPr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BD59123E-ECA5-4AFF-99CD-7A8F67F4CBF8}"/>
                </a:ext>
              </a:extLst>
            </p:cNvPr>
            <p:cNvGrpSpPr/>
            <p:nvPr/>
          </p:nvGrpSpPr>
          <p:grpSpPr>
            <a:xfrm>
              <a:off x="627477" y="3920231"/>
              <a:ext cx="6403179" cy="1015905"/>
              <a:chOff x="762000" y="3920231"/>
              <a:chExt cx="5916150" cy="1015905"/>
            </a:xfrm>
          </p:grpSpPr>
          <p:grpSp>
            <p:nvGrpSpPr>
              <p:cNvPr id="72" name="Group 71">
                <a:extLst>
                  <a:ext uri="{FF2B5EF4-FFF2-40B4-BE49-F238E27FC236}">
                    <a16:creationId xmlns:a16="http://schemas.microsoft.com/office/drawing/2014/main" id="{D0318900-7F3D-47FE-902B-00DE64451E33}"/>
                  </a:ext>
                </a:extLst>
              </p:cNvPr>
              <p:cNvGrpSpPr/>
              <p:nvPr/>
            </p:nvGrpSpPr>
            <p:grpSpPr>
              <a:xfrm>
                <a:off x="847182" y="4684933"/>
                <a:ext cx="4841529" cy="116307"/>
                <a:chOff x="949985" y="5357454"/>
                <a:chExt cx="4841529" cy="116307"/>
              </a:xfrm>
            </p:grpSpPr>
            <p:sp>
              <p:nvSpPr>
                <p:cNvPr id="70" name="Shape 10">
                  <a:extLst>
                    <a:ext uri="{FF2B5EF4-FFF2-40B4-BE49-F238E27FC236}">
                      <a16:creationId xmlns:a16="http://schemas.microsoft.com/office/drawing/2014/main" id="{3A1332AC-1B5F-4B26-8C13-36FBDCE682DA}"/>
                    </a:ext>
                  </a:extLst>
                </p:cNvPr>
                <p:cNvSpPr/>
                <p:nvPr/>
              </p:nvSpPr>
              <p:spPr>
                <a:xfrm>
                  <a:off x="949985" y="5361401"/>
                  <a:ext cx="4841529" cy="112360"/>
                </a:xfrm>
                <a:prstGeom prst="rect">
                  <a:avLst/>
                </a:prstGeom>
                <a:solidFill>
                  <a:srgbClr val="FF0000"/>
                </a:solidFill>
                <a:ln w="12700">
                  <a:solidFill>
                    <a:srgbClr val="E6002D">
                      <a:alpha val="0"/>
                    </a:srgbClr>
                  </a:solidFill>
                  <a:prstDash val="solid"/>
                </a:ln>
              </p:spPr>
            </p:sp>
            <p:sp>
              <p:nvSpPr>
                <p:cNvPr id="71" name="Shape 10">
                  <a:extLst>
                    <a:ext uri="{FF2B5EF4-FFF2-40B4-BE49-F238E27FC236}">
                      <a16:creationId xmlns:a16="http://schemas.microsoft.com/office/drawing/2014/main" id="{D10627E6-4E98-46B3-895B-B83871DFC921}"/>
                    </a:ext>
                  </a:extLst>
                </p:cNvPr>
                <p:cNvSpPr/>
                <p:nvPr/>
              </p:nvSpPr>
              <p:spPr>
                <a:xfrm>
                  <a:off x="4836499" y="5357454"/>
                  <a:ext cx="955015" cy="112360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 w="12700">
                  <a:solidFill>
                    <a:srgbClr val="E6002D">
                      <a:alpha val="0"/>
                    </a:srgbClr>
                  </a:solidFill>
                  <a:prstDash val="solid"/>
                </a:ln>
              </p:spPr>
            </p:sp>
          </p:grp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A46277AC-C6CB-4BF7-B6C7-86A37BD89E31}"/>
                  </a:ext>
                </a:extLst>
              </p:cNvPr>
              <p:cNvSpPr txBox="1"/>
              <p:nvPr/>
            </p:nvSpPr>
            <p:spPr>
              <a:xfrm>
                <a:off x="762000" y="3920231"/>
                <a:ext cx="2789696" cy="6544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>
                  <a:lnSpc>
                    <a:spcPts val="5000"/>
                  </a:lnSpc>
                </a:pPr>
                <a:r>
                  <a:rPr lang="en-US" sz="2400" b="1" dirty="0"/>
                  <a:t>Treatment</a:t>
                </a:r>
                <a:endParaRPr lang="en-US" sz="2400" dirty="0"/>
              </a:p>
            </p:txBody>
          </p: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BAD9DBA5-D6AC-433E-9CD6-FC046D35A28E}"/>
                  </a:ext>
                </a:extLst>
              </p:cNvPr>
              <p:cNvSpPr txBox="1"/>
              <p:nvPr/>
            </p:nvSpPr>
            <p:spPr>
              <a:xfrm>
                <a:off x="5791513" y="4281661"/>
                <a:ext cx="886637" cy="6544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>
                  <a:lnSpc>
                    <a:spcPts val="5000"/>
                  </a:lnSpc>
                </a:pPr>
                <a:r>
                  <a:rPr lang="en-US" sz="2400" dirty="0"/>
                  <a:t>85%</a:t>
                </a:r>
              </a:p>
            </p:txBody>
          </p:sp>
        </p:grpSp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166F178A-E6B3-4E50-B84D-042A78FDF5B0}"/>
                </a:ext>
              </a:extLst>
            </p:cNvPr>
            <p:cNvGrpSpPr/>
            <p:nvPr/>
          </p:nvGrpSpPr>
          <p:grpSpPr>
            <a:xfrm>
              <a:off x="627477" y="5016969"/>
              <a:ext cx="6403179" cy="939549"/>
              <a:chOff x="726946" y="5016969"/>
              <a:chExt cx="5824358" cy="939549"/>
            </a:xfrm>
          </p:grpSpPr>
          <p:grpSp>
            <p:nvGrpSpPr>
              <p:cNvPr id="68" name="Group 67">
                <a:extLst>
                  <a:ext uri="{FF2B5EF4-FFF2-40B4-BE49-F238E27FC236}">
                    <a16:creationId xmlns:a16="http://schemas.microsoft.com/office/drawing/2014/main" id="{443B41D3-B177-4FC0-B5B7-237EB5C38C83}"/>
                  </a:ext>
                </a:extLst>
              </p:cNvPr>
              <p:cNvGrpSpPr/>
              <p:nvPr/>
            </p:nvGrpSpPr>
            <p:grpSpPr>
              <a:xfrm>
                <a:off x="847182" y="5742640"/>
                <a:ext cx="4841529" cy="112360"/>
                <a:chOff x="949985" y="5210425"/>
                <a:chExt cx="4841529" cy="112360"/>
              </a:xfrm>
            </p:grpSpPr>
            <p:sp>
              <p:nvSpPr>
                <p:cNvPr id="66" name="Shape 10">
                  <a:extLst>
                    <a:ext uri="{FF2B5EF4-FFF2-40B4-BE49-F238E27FC236}">
                      <a16:creationId xmlns:a16="http://schemas.microsoft.com/office/drawing/2014/main" id="{6C0CCAA5-CCC8-4993-A308-3EE5338AD329}"/>
                    </a:ext>
                  </a:extLst>
                </p:cNvPr>
                <p:cNvSpPr/>
                <p:nvPr/>
              </p:nvSpPr>
              <p:spPr>
                <a:xfrm>
                  <a:off x="949985" y="5210425"/>
                  <a:ext cx="4841529" cy="112360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 w="12700">
                  <a:solidFill>
                    <a:srgbClr val="E6002D">
                      <a:alpha val="0"/>
                    </a:srgbClr>
                  </a:solidFill>
                  <a:prstDash val="solid"/>
                </a:ln>
              </p:spPr>
            </p:sp>
            <p:sp>
              <p:nvSpPr>
                <p:cNvPr id="67" name="Shape 10">
                  <a:extLst>
                    <a:ext uri="{FF2B5EF4-FFF2-40B4-BE49-F238E27FC236}">
                      <a16:creationId xmlns:a16="http://schemas.microsoft.com/office/drawing/2014/main" id="{0B3A2BD7-EC34-4D13-BA66-707CF7D4363B}"/>
                    </a:ext>
                  </a:extLst>
                </p:cNvPr>
                <p:cNvSpPr/>
                <p:nvPr/>
              </p:nvSpPr>
              <p:spPr>
                <a:xfrm>
                  <a:off x="949985" y="5210425"/>
                  <a:ext cx="955015" cy="112360"/>
                </a:xfrm>
                <a:prstGeom prst="rect">
                  <a:avLst/>
                </a:prstGeom>
                <a:solidFill>
                  <a:srgbClr val="FF0000"/>
                </a:solidFill>
                <a:ln w="12700">
                  <a:solidFill>
                    <a:srgbClr val="E6002D">
                      <a:alpha val="0"/>
                    </a:srgbClr>
                  </a:solidFill>
                  <a:prstDash val="solid"/>
                </a:ln>
              </p:spPr>
            </p:sp>
          </p:grp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D191C401-B9B2-4127-AE2D-3008E80A9E27}"/>
                  </a:ext>
                </a:extLst>
              </p:cNvPr>
              <p:cNvSpPr txBox="1"/>
              <p:nvPr/>
            </p:nvSpPr>
            <p:spPr>
              <a:xfrm>
                <a:off x="726946" y="5016969"/>
                <a:ext cx="1526830" cy="6544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>
                  <a:lnSpc>
                    <a:spcPts val="5000"/>
                  </a:lnSpc>
                </a:pPr>
                <a:r>
                  <a:rPr lang="en-US" sz="2400" b="1" dirty="0"/>
                  <a:t>Control</a:t>
                </a:r>
              </a:p>
            </p:txBody>
          </p: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9D59BFE1-22AD-4B90-839A-5B1FC426C418}"/>
                  </a:ext>
                </a:extLst>
              </p:cNvPr>
              <p:cNvSpPr txBox="1"/>
              <p:nvPr/>
            </p:nvSpPr>
            <p:spPr>
              <a:xfrm>
                <a:off x="5786475" y="5302043"/>
                <a:ext cx="764829" cy="6544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>
                  <a:lnSpc>
                    <a:spcPts val="5000"/>
                  </a:lnSpc>
                </a:pPr>
                <a:r>
                  <a:rPr lang="en-US" sz="2400" dirty="0"/>
                  <a:t>15%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66095221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10721A-9A75-CF59-ECA5-5B4630065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14A1CD0-EB86-BBC5-28C1-13E7EEB1160A}"/>
              </a:ext>
            </a:extLst>
          </p:cNvPr>
          <p:cNvGrpSpPr/>
          <p:nvPr/>
        </p:nvGrpSpPr>
        <p:grpSpPr>
          <a:xfrm>
            <a:off x="0" y="10287"/>
            <a:ext cx="18288000" cy="1254146"/>
            <a:chOff x="0" y="0"/>
            <a:chExt cx="3762963" cy="25805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A9209E0-DEEF-45EE-D8AC-1C898FA86CF6}"/>
                </a:ext>
              </a:extLst>
            </p:cNvPr>
            <p:cNvSpPr/>
            <p:nvPr/>
          </p:nvSpPr>
          <p:spPr>
            <a:xfrm>
              <a:off x="0" y="0"/>
              <a:ext cx="3762963" cy="258055"/>
            </a:xfrm>
            <a:custGeom>
              <a:avLst/>
              <a:gdLst/>
              <a:ahLst/>
              <a:cxnLst/>
              <a:rect l="l" t="t" r="r" b="b"/>
              <a:pathLst>
                <a:path w="3762963" h="258055">
                  <a:moveTo>
                    <a:pt x="0" y="0"/>
                  </a:moveTo>
                  <a:lnTo>
                    <a:pt x="3762963" y="0"/>
                  </a:lnTo>
                  <a:lnTo>
                    <a:pt x="3762963" y="258055"/>
                  </a:lnTo>
                  <a:lnTo>
                    <a:pt x="0" y="258055"/>
                  </a:lnTo>
                  <a:close/>
                </a:path>
              </a:pathLst>
            </a:custGeom>
            <a:solidFill>
              <a:srgbClr val="EA0A2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1DE8D68C-9C31-52D5-8596-8CB78BC01156}"/>
                </a:ext>
              </a:extLst>
            </p:cNvPr>
            <p:cNvSpPr txBox="1"/>
            <p:nvPr/>
          </p:nvSpPr>
          <p:spPr>
            <a:xfrm>
              <a:off x="0" y="-9525"/>
              <a:ext cx="3762963" cy="2675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6131AEF9-9812-D1BA-741D-6BBCAE57D903}"/>
              </a:ext>
            </a:extLst>
          </p:cNvPr>
          <p:cNvSpPr/>
          <p:nvPr/>
        </p:nvSpPr>
        <p:spPr>
          <a:xfrm>
            <a:off x="16561807" y="340119"/>
            <a:ext cx="1114652" cy="594481"/>
          </a:xfrm>
          <a:custGeom>
            <a:avLst/>
            <a:gdLst/>
            <a:ahLst/>
            <a:cxnLst/>
            <a:rect l="l" t="t" r="r" b="b"/>
            <a:pathLst>
              <a:path w="1114652" h="594481">
                <a:moveTo>
                  <a:pt x="0" y="0"/>
                </a:moveTo>
                <a:lnTo>
                  <a:pt x="1114652" y="0"/>
                </a:lnTo>
                <a:lnTo>
                  <a:pt x="1114652" y="594481"/>
                </a:lnTo>
                <a:lnTo>
                  <a:pt x="0" y="5944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63577D-0B33-76FB-5740-FEC3589A9F50}"/>
              </a:ext>
            </a:extLst>
          </p:cNvPr>
          <p:cNvSpPr txBox="1"/>
          <p:nvPr/>
        </p:nvSpPr>
        <p:spPr>
          <a:xfrm>
            <a:off x="455259" y="229493"/>
            <a:ext cx="12725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HILLSTROM DATASET</a:t>
            </a:r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0D834D1D-58F8-4515-AD86-9DA04C54724E}"/>
              </a:ext>
            </a:extLst>
          </p:cNvPr>
          <p:cNvSpPr/>
          <p:nvPr/>
        </p:nvSpPr>
        <p:spPr>
          <a:xfrm>
            <a:off x="455260" y="1541552"/>
            <a:ext cx="7735256" cy="8573868"/>
          </a:xfrm>
          <a:prstGeom prst="roundRect">
            <a:avLst>
              <a:gd name="adj" fmla="val 1882"/>
            </a:avLst>
          </a:prstGeom>
          <a:solidFill>
            <a:srgbClr val="FFF3F5"/>
          </a:solidFill>
          <a:ln w="7620">
            <a:solidFill>
              <a:srgbClr val="FFF3F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E05107D4-0E62-4BD8-B2DD-B4417CC944BB}"/>
              </a:ext>
            </a:extLst>
          </p:cNvPr>
          <p:cNvSpPr/>
          <p:nvPr/>
        </p:nvSpPr>
        <p:spPr>
          <a:xfrm>
            <a:off x="304800" y="1938634"/>
            <a:ext cx="4041290" cy="461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3000" b="1" kern="0" spc="120" dirty="0">
                <a:solidFill>
                  <a:srgbClr val="E6002D"/>
                </a:solidFill>
                <a:ea typeface="Arial" pitchFamily="34" charset="-122"/>
                <a:cs typeface="Arial" pitchFamily="34" charset="-120"/>
              </a:rPr>
              <a:t>DATA CONTEXT</a:t>
            </a:r>
            <a:endParaRPr lang="en-US" sz="3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7E3FC35-120F-4FEE-A9C4-C0B62179E104}"/>
              </a:ext>
            </a:extLst>
          </p:cNvPr>
          <p:cNvSpPr txBox="1"/>
          <p:nvPr/>
        </p:nvSpPr>
        <p:spPr>
          <a:xfrm>
            <a:off x="8371762" y="1711842"/>
            <a:ext cx="9503400" cy="35840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222222"/>
                </a:solidFill>
                <a:latin typeface="Leelawadee UI" panose="020B0502040204020203" pitchFamily="34" charset="-34"/>
                <a:ea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lang="vi-VN" sz="2200" dirty="0">
                <a:solidFill>
                  <a:srgbClr val="222222"/>
                </a:solidFill>
                <a:latin typeface="Leelawadee UI" panose="020B0502040204020203" pitchFamily="34" charset="-34"/>
                <a:ea typeface="Calibri" panose="020F0502020204030204" pitchFamily="34" charset="0"/>
                <a:cs typeface="Calibri" panose="020F0502020204030204" pitchFamily="34" charset="0"/>
              </a:rPr>
              <a:t>ataset được chuyển thành hai bài toán riêng: </a:t>
            </a:r>
            <a:endParaRPr lang="en-US" sz="2200" dirty="0">
              <a:solidFill>
                <a:srgbClr val="222222"/>
              </a:solidFill>
              <a:latin typeface="Leelawadee UI" panose="020B0502040204020203" pitchFamily="34" charset="-34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200" dirty="0">
                <a:solidFill>
                  <a:srgbClr val="222222"/>
                </a:solidFill>
                <a:latin typeface="Leelawadee UI" panose="020B0502040204020203" pitchFamily="34" charset="-34"/>
                <a:ea typeface="Calibri" panose="020F0502020204030204" pitchFamily="34" charset="0"/>
                <a:cs typeface="Calibri" panose="020F0502020204030204" pitchFamily="34" charset="0"/>
              </a:rPr>
              <a:t>Mens Email vs No Email  </a:t>
            </a:r>
            <a:endParaRPr lang="en-US" sz="2200" dirty="0">
              <a:solidFill>
                <a:srgbClr val="222222"/>
              </a:solidFill>
              <a:latin typeface="Leelawadee UI" panose="020B0502040204020203" pitchFamily="34" charset="-34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200" dirty="0">
                <a:solidFill>
                  <a:srgbClr val="222222"/>
                </a:solidFill>
                <a:latin typeface="Leelawadee UI" panose="020B0502040204020203" pitchFamily="34" charset="-34"/>
                <a:ea typeface="Calibri" panose="020F0502020204030204" pitchFamily="34" charset="0"/>
                <a:cs typeface="Calibri" panose="020F0502020204030204" pitchFamily="34" charset="0"/>
              </a:rPr>
              <a:t>Womens Email vs No Email</a:t>
            </a:r>
            <a:endParaRPr lang="en-US" sz="2200" dirty="0">
              <a:solidFill>
                <a:srgbClr val="222222"/>
              </a:solidFill>
              <a:latin typeface="Leelawadee UI" panose="020B0502040204020203" pitchFamily="34" charset="-34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200" dirty="0">
                <a:latin typeface="Leelawadee UI" panose="020B0502040204020203" pitchFamily="34" charset="-34"/>
                <a:ea typeface="Calibri" panose="020F0502020204030204" pitchFamily="34" charset="0"/>
                <a:cs typeface="Calibri" panose="020F0502020204030204" pitchFamily="34" charset="0"/>
              </a:rPr>
              <a:t>Nhóm nhận email đúng sở thích sản phẩm ghi nhận mức tăng trưởng lượt truy cập (visit) vượt trội so với nhóm đối chứng (control).</a:t>
            </a:r>
            <a:endParaRPr lang="en-US" sz="2200" dirty="0">
              <a:latin typeface="Leelawadee UI" panose="020B0502040204020203" pitchFamily="34" charset="-34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 err="1">
                <a:latin typeface="Leelawadee UI" panose="020B0502040204020203" pitchFamily="34" charset="-34"/>
                <a:ea typeface="Calibri" panose="020F0502020204030204" pitchFamily="34" charset="0"/>
                <a:cs typeface="Calibri" panose="020F0502020204030204" pitchFamily="34" charset="0"/>
              </a:rPr>
              <a:t>Xây</a:t>
            </a:r>
            <a:r>
              <a:rPr lang="en-US" sz="2200" dirty="0">
                <a:latin typeface="Leelawadee UI" panose="020B0502040204020203" pitchFamily="34" charset="-34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latin typeface="Leelawadee UI" panose="020B0502040204020203" pitchFamily="34" charset="-34"/>
                <a:ea typeface="Calibri" panose="020F0502020204030204" pitchFamily="34" charset="0"/>
                <a:cs typeface="Calibri" panose="020F0502020204030204" pitchFamily="34" charset="0"/>
              </a:rPr>
              <a:t>dựng</a:t>
            </a:r>
            <a:r>
              <a:rPr lang="en-US" sz="2200" dirty="0">
                <a:latin typeface="Leelawadee UI" panose="020B0502040204020203" pitchFamily="34" charset="-34"/>
                <a:ea typeface="Calibri" panose="020F0502020204030204" pitchFamily="34" charset="0"/>
                <a:cs typeface="Calibri" panose="020F0502020204030204" pitchFamily="34" charset="0"/>
              </a:rPr>
              <a:t> feature </a:t>
            </a:r>
            <a:r>
              <a:rPr lang="en-US" sz="2200" dirty="0" err="1">
                <a:latin typeface="Leelawadee UI" panose="020B0502040204020203" pitchFamily="34" charset="-34"/>
                <a:ea typeface="Calibri" panose="020F0502020204030204" pitchFamily="34" charset="0"/>
                <a:cs typeface="Calibri" panose="020F0502020204030204" pitchFamily="34" charset="0"/>
              </a:rPr>
              <a:t>product_affinity</a:t>
            </a:r>
            <a:r>
              <a:rPr lang="en-US" sz="2200" dirty="0">
                <a:latin typeface="Leelawadee UI" panose="020B0502040204020203" pitchFamily="34" charset="-34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latin typeface="Leelawadee UI" panose="020B0502040204020203" pitchFamily="34" charset="-34"/>
                <a:ea typeface="Calibri" panose="020F0502020204030204" pitchFamily="34" charset="0"/>
                <a:cs typeface="Calibri" panose="020F0502020204030204" pitchFamily="34" charset="0"/>
              </a:rPr>
              <a:t>từ</a:t>
            </a:r>
            <a:r>
              <a:rPr lang="en-US" sz="2200" dirty="0">
                <a:latin typeface="Leelawadee UI" panose="020B0502040204020203" pitchFamily="34" charset="-34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latin typeface="Leelawadee UI" panose="020B0502040204020203" pitchFamily="34" charset="-34"/>
                <a:ea typeface="Calibri" panose="020F0502020204030204" pitchFamily="34" charset="0"/>
                <a:cs typeface="Calibri" panose="020F0502020204030204" pitchFamily="34" charset="0"/>
              </a:rPr>
              <a:t>thông</a:t>
            </a:r>
            <a:r>
              <a:rPr lang="en-US" sz="2200" dirty="0">
                <a:latin typeface="Leelawadee UI" panose="020B0502040204020203" pitchFamily="34" charset="-34"/>
                <a:ea typeface="Calibri" panose="020F0502020204030204" pitchFamily="34" charset="0"/>
                <a:cs typeface="Calibri" panose="020F0502020204030204" pitchFamily="34" charset="0"/>
              </a:rPr>
              <a:t> tin campaign (</a:t>
            </a:r>
            <a:r>
              <a:rPr lang="en-US" sz="2200" dirty="0" err="1">
                <a:latin typeface="Leelawadee UI" panose="020B0502040204020203" pitchFamily="34" charset="-34"/>
                <a:ea typeface="Calibri" panose="020F0502020204030204" pitchFamily="34" charset="0"/>
                <a:cs typeface="Calibri" panose="020F0502020204030204" pitchFamily="34" charset="0"/>
              </a:rPr>
              <a:t>Mens</a:t>
            </a:r>
            <a:r>
              <a:rPr lang="en-US" sz="2200" dirty="0">
                <a:latin typeface="Leelawadee UI" panose="020B0502040204020203" pitchFamily="34" charset="-34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200" dirty="0" err="1">
                <a:latin typeface="Leelawadee UI" panose="020B0502040204020203" pitchFamily="34" charset="-34"/>
                <a:ea typeface="Calibri" panose="020F0502020204030204" pitchFamily="34" charset="0"/>
                <a:cs typeface="Calibri" panose="020F0502020204030204" pitchFamily="34" charset="0"/>
              </a:rPr>
              <a:t>Womens</a:t>
            </a:r>
            <a:r>
              <a:rPr lang="en-US" sz="2200" dirty="0">
                <a:latin typeface="Leelawadee UI" panose="020B0502040204020203" pitchFamily="34" charset="-34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US" sz="2200" dirty="0" err="1">
                <a:latin typeface="Leelawadee UI" panose="020B0502040204020203" pitchFamily="34" charset="-34"/>
                <a:ea typeface="Calibri" panose="020F0502020204030204" pitchFamily="34" charset="0"/>
                <a:cs typeface="Calibri" panose="020F0502020204030204" pitchFamily="34" charset="0"/>
              </a:rPr>
              <a:t>với</a:t>
            </a:r>
            <a:r>
              <a:rPr lang="en-US" sz="2200" dirty="0">
                <a:latin typeface="Leelawadee UI" panose="020B0502040204020203" pitchFamily="34" charset="-34"/>
                <a:ea typeface="Calibri" panose="020F0502020204030204" pitchFamily="34" charset="0"/>
                <a:cs typeface="Calibri" panose="020F0502020204030204" pitchFamily="34" charset="0"/>
              </a:rPr>
              <a:t> 3 </a:t>
            </a:r>
            <a:r>
              <a:rPr lang="en-US" sz="2200" dirty="0" err="1">
                <a:latin typeface="Leelawadee UI" panose="020B0502040204020203" pitchFamily="34" charset="-34"/>
                <a:ea typeface="Calibri" panose="020F0502020204030204" pitchFamily="34" charset="0"/>
                <a:cs typeface="Calibri" panose="020F0502020204030204" pitchFamily="34" charset="0"/>
              </a:rPr>
              <a:t>giá</a:t>
            </a:r>
            <a:r>
              <a:rPr lang="en-US" sz="2200" dirty="0">
                <a:latin typeface="Leelawadee UI" panose="020B0502040204020203" pitchFamily="34" charset="-34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latin typeface="Leelawadee UI" panose="020B0502040204020203" pitchFamily="34" charset="-34"/>
                <a:ea typeface="Calibri" panose="020F0502020204030204" pitchFamily="34" charset="0"/>
                <a:cs typeface="Calibri" panose="020F0502020204030204" pitchFamily="34" charset="0"/>
              </a:rPr>
              <a:t>trị</a:t>
            </a:r>
            <a:r>
              <a:rPr lang="en-US" sz="2200" dirty="0">
                <a:latin typeface="Leelawadee UI" panose="020B0502040204020203" pitchFamily="34" charset="-34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2200" dirty="0" err="1">
                <a:latin typeface="Leelawadee UI" panose="020B0502040204020203" pitchFamily="34" charset="-34"/>
                <a:ea typeface="Calibri" panose="020F0502020204030204" pitchFamily="34" charset="0"/>
                <a:cs typeface="Calibri" panose="020F0502020204030204" pitchFamily="34" charset="0"/>
              </a:rPr>
              <a:t>Mens</a:t>
            </a:r>
            <a:r>
              <a:rPr lang="en-US" sz="2200" dirty="0">
                <a:latin typeface="Leelawadee UI" panose="020B0502040204020203" pitchFamily="34" charset="-34"/>
                <a:ea typeface="Calibri" panose="020F0502020204030204" pitchFamily="34" charset="0"/>
                <a:cs typeface="Calibri" panose="020F0502020204030204" pitchFamily="34" charset="0"/>
              </a:rPr>
              <a:t> only, </a:t>
            </a:r>
            <a:r>
              <a:rPr lang="en-US" sz="2200" dirty="0" err="1">
                <a:latin typeface="Leelawadee UI" panose="020B0502040204020203" pitchFamily="34" charset="-34"/>
                <a:ea typeface="Calibri" panose="020F0502020204030204" pitchFamily="34" charset="0"/>
                <a:cs typeface="Calibri" panose="020F0502020204030204" pitchFamily="34" charset="0"/>
              </a:rPr>
              <a:t>Womens</a:t>
            </a:r>
            <a:r>
              <a:rPr lang="en-US" sz="2200" dirty="0">
                <a:latin typeface="Leelawadee UI" panose="020B0502040204020203" pitchFamily="34" charset="-34"/>
                <a:ea typeface="Calibri" panose="020F0502020204030204" pitchFamily="34" charset="0"/>
                <a:cs typeface="Calibri" panose="020F0502020204030204" pitchFamily="34" charset="0"/>
              </a:rPr>
              <a:t> only, </a:t>
            </a:r>
            <a:r>
              <a:rPr lang="en-US" sz="2200" dirty="0" err="1">
                <a:latin typeface="Leelawadee UI" panose="020B0502040204020203" pitchFamily="34" charset="-34"/>
                <a:ea typeface="Calibri" panose="020F0502020204030204" pitchFamily="34" charset="0"/>
                <a:cs typeface="Calibri" panose="020F0502020204030204" pitchFamily="34" charset="0"/>
              </a:rPr>
              <a:t>và</a:t>
            </a:r>
            <a:r>
              <a:rPr lang="en-US" sz="2200" dirty="0">
                <a:latin typeface="Leelawadee UI" panose="020B0502040204020203" pitchFamily="34" charset="-34"/>
                <a:ea typeface="Calibri" panose="020F0502020204030204" pitchFamily="34" charset="0"/>
                <a:cs typeface="Calibri" panose="020F0502020204030204" pitchFamily="34" charset="0"/>
              </a:rPr>
              <a:t> Both.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799162B0-1403-447C-A990-8D0E6A599FE0}"/>
              </a:ext>
            </a:extLst>
          </p:cNvPr>
          <p:cNvGrpSpPr/>
          <p:nvPr/>
        </p:nvGrpSpPr>
        <p:grpSpPr>
          <a:xfrm>
            <a:off x="1058545" y="2797382"/>
            <a:ext cx="6264909" cy="2954832"/>
            <a:chOff x="974090" y="2672724"/>
            <a:chExt cx="6335609" cy="3079490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6558169F-7898-4856-8664-1FF408A87FC7}"/>
                </a:ext>
              </a:extLst>
            </p:cNvPr>
            <p:cNvGrpSpPr/>
            <p:nvPr/>
          </p:nvGrpSpPr>
          <p:grpSpPr>
            <a:xfrm>
              <a:off x="1055855" y="3891661"/>
              <a:ext cx="5240094" cy="130568"/>
              <a:chOff x="925095" y="5093513"/>
              <a:chExt cx="4841529" cy="124576"/>
            </a:xfrm>
          </p:grpSpPr>
          <p:sp>
            <p:nvSpPr>
              <p:cNvPr id="27" name="Shape 10">
                <a:extLst>
                  <a:ext uri="{FF2B5EF4-FFF2-40B4-BE49-F238E27FC236}">
                    <a16:creationId xmlns:a16="http://schemas.microsoft.com/office/drawing/2014/main" id="{B159CA84-C360-4ADC-A0B6-9DEE1B583ACC}"/>
                  </a:ext>
                </a:extLst>
              </p:cNvPr>
              <p:cNvSpPr/>
              <p:nvPr/>
            </p:nvSpPr>
            <p:spPr>
              <a:xfrm>
                <a:off x="925095" y="5105729"/>
                <a:ext cx="4841529" cy="11236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12700">
                <a:solidFill>
                  <a:srgbClr val="E6002D">
                    <a:alpha val="0"/>
                  </a:srgbClr>
                </a:solidFill>
                <a:prstDash val="solid"/>
              </a:ln>
            </p:spPr>
          </p:sp>
          <p:sp>
            <p:nvSpPr>
              <p:cNvPr id="28" name="Shape 10">
                <a:extLst>
                  <a:ext uri="{FF2B5EF4-FFF2-40B4-BE49-F238E27FC236}">
                    <a16:creationId xmlns:a16="http://schemas.microsoft.com/office/drawing/2014/main" id="{AF0B55F2-B242-42B5-BE2F-960A7529F839}"/>
                  </a:ext>
                </a:extLst>
              </p:cNvPr>
              <p:cNvSpPr/>
              <p:nvPr/>
            </p:nvSpPr>
            <p:spPr>
              <a:xfrm>
                <a:off x="925095" y="5093513"/>
                <a:ext cx="1642923" cy="112360"/>
              </a:xfrm>
              <a:prstGeom prst="rect">
                <a:avLst/>
              </a:prstGeom>
              <a:solidFill>
                <a:srgbClr val="FF0000"/>
              </a:solidFill>
              <a:ln w="12700">
                <a:solidFill>
                  <a:srgbClr val="E6002D">
                    <a:alpha val="0"/>
                  </a:srgbClr>
                </a:solidFill>
                <a:prstDash val="solid"/>
              </a:ln>
            </p:spPr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2916B5C-8F0D-49E4-AD5B-66F147393209}"/>
                </a:ext>
              </a:extLst>
            </p:cNvPr>
            <p:cNvSpPr txBox="1"/>
            <p:nvPr/>
          </p:nvSpPr>
          <p:spPr>
            <a:xfrm>
              <a:off x="974090" y="3229227"/>
              <a:ext cx="1678566" cy="6544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lvl="0">
                <a:lnSpc>
                  <a:spcPts val="5000"/>
                </a:lnSpc>
              </a:pPr>
              <a:r>
                <a:rPr lang="en-US" sz="2400" b="1" dirty="0"/>
                <a:t>No Email</a:t>
              </a:r>
              <a:endParaRPr lang="en-US" sz="2400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B681739-F517-4069-A33A-0F3DF575F1BB}"/>
                </a:ext>
              </a:extLst>
            </p:cNvPr>
            <p:cNvSpPr txBox="1"/>
            <p:nvPr/>
          </p:nvSpPr>
          <p:spPr>
            <a:xfrm>
              <a:off x="6338145" y="3510395"/>
              <a:ext cx="959627" cy="6544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lnSpc>
                  <a:spcPts val="5000"/>
                </a:lnSpc>
              </a:pPr>
              <a:r>
                <a:rPr lang="en-US" sz="2400" dirty="0"/>
                <a:t>33,3%</a:t>
              </a:r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A0F76DBA-74F8-4A67-AA61-4A0E2704CB77}"/>
                </a:ext>
              </a:extLst>
            </p:cNvPr>
            <p:cNvGrpSpPr/>
            <p:nvPr/>
          </p:nvGrpSpPr>
          <p:grpSpPr>
            <a:xfrm>
              <a:off x="1055855" y="4653950"/>
              <a:ext cx="5322677" cy="152132"/>
              <a:chOff x="889106" y="4650895"/>
              <a:chExt cx="4841529" cy="112360"/>
            </a:xfrm>
          </p:grpSpPr>
          <p:sp>
            <p:nvSpPr>
              <p:cNvPr id="22" name="Shape 10">
                <a:extLst>
                  <a:ext uri="{FF2B5EF4-FFF2-40B4-BE49-F238E27FC236}">
                    <a16:creationId xmlns:a16="http://schemas.microsoft.com/office/drawing/2014/main" id="{B107319E-9747-484C-90A3-2C6F29FF0858}"/>
                  </a:ext>
                </a:extLst>
              </p:cNvPr>
              <p:cNvSpPr/>
              <p:nvPr/>
            </p:nvSpPr>
            <p:spPr>
              <a:xfrm>
                <a:off x="889106" y="4650895"/>
                <a:ext cx="4841529" cy="11236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12700">
                <a:solidFill>
                  <a:srgbClr val="E6002D">
                    <a:alpha val="0"/>
                  </a:srgbClr>
                </a:solidFill>
                <a:prstDash val="solid"/>
              </a:ln>
            </p:spPr>
          </p:sp>
          <p:sp>
            <p:nvSpPr>
              <p:cNvPr id="23" name="Shape 10">
                <a:extLst>
                  <a:ext uri="{FF2B5EF4-FFF2-40B4-BE49-F238E27FC236}">
                    <a16:creationId xmlns:a16="http://schemas.microsoft.com/office/drawing/2014/main" id="{FD44895F-B5B2-42C8-BA09-7378A149446A}"/>
                  </a:ext>
                </a:extLst>
              </p:cNvPr>
              <p:cNvSpPr/>
              <p:nvPr/>
            </p:nvSpPr>
            <p:spPr>
              <a:xfrm>
                <a:off x="889106" y="4650895"/>
                <a:ext cx="1624840" cy="89583"/>
              </a:xfrm>
              <a:prstGeom prst="rect">
                <a:avLst/>
              </a:prstGeom>
              <a:solidFill>
                <a:srgbClr val="FF0000"/>
              </a:solidFill>
              <a:ln w="12700">
                <a:solidFill>
                  <a:srgbClr val="E6002D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14C3206-7BD6-402C-8A0B-83FF8AAC4E3B}"/>
                </a:ext>
              </a:extLst>
            </p:cNvPr>
            <p:cNvSpPr txBox="1"/>
            <p:nvPr/>
          </p:nvSpPr>
          <p:spPr>
            <a:xfrm>
              <a:off x="974091" y="4022229"/>
              <a:ext cx="1678565" cy="6544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lnSpc>
                  <a:spcPts val="5000"/>
                </a:lnSpc>
              </a:pPr>
              <a:r>
                <a:rPr lang="en-US" sz="2400" b="1" dirty="0"/>
                <a:t>Men Email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7034553-0532-4478-95F7-E8D7844D78D8}"/>
                </a:ext>
              </a:extLst>
            </p:cNvPr>
            <p:cNvSpPr txBox="1"/>
            <p:nvPr/>
          </p:nvSpPr>
          <p:spPr>
            <a:xfrm>
              <a:off x="6338146" y="4260425"/>
              <a:ext cx="959627" cy="6544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lnSpc>
                  <a:spcPts val="5000"/>
                </a:lnSpc>
              </a:pPr>
              <a:r>
                <a:rPr lang="en-US" sz="2400" dirty="0"/>
                <a:t>33,3%</a:t>
              </a:r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1C67303F-05D4-4805-909C-E290E87E5A8E}"/>
                </a:ext>
              </a:extLst>
            </p:cNvPr>
            <p:cNvGrpSpPr/>
            <p:nvPr/>
          </p:nvGrpSpPr>
          <p:grpSpPr>
            <a:xfrm>
              <a:off x="1829882" y="2672724"/>
              <a:ext cx="4464262" cy="830997"/>
              <a:chOff x="1403823" y="2872979"/>
              <a:chExt cx="4387377" cy="722111"/>
            </a:xfrm>
          </p:grpSpPr>
          <p:sp>
            <p:nvSpPr>
              <p:cNvPr id="30" name="Text 5">
                <a:extLst>
                  <a:ext uri="{FF2B5EF4-FFF2-40B4-BE49-F238E27FC236}">
                    <a16:creationId xmlns:a16="http://schemas.microsoft.com/office/drawing/2014/main" id="{4CD24676-1219-472E-BEC6-B8223548B467}"/>
                  </a:ext>
                </a:extLst>
              </p:cNvPr>
              <p:cNvSpPr/>
              <p:nvPr/>
            </p:nvSpPr>
            <p:spPr>
              <a:xfrm>
                <a:off x="1403823" y="2872979"/>
                <a:ext cx="2983553" cy="72211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spAutoFit/>
              </a:bodyPr>
              <a:lstStyle/>
              <a:p>
                <a:pPr marL="0" indent="0" algn="ctr">
                  <a:buNone/>
                </a:pPr>
                <a:r>
                  <a:rPr lang="en-US" sz="5400" b="1" dirty="0">
                    <a:solidFill>
                      <a:srgbClr val="111111"/>
                    </a:solidFill>
                    <a:ea typeface="Arial" pitchFamily="34" charset="-122"/>
                    <a:cs typeface="Arial" pitchFamily="34" charset="-120"/>
                  </a:rPr>
                  <a:t>64K</a:t>
                </a:r>
                <a:endParaRPr lang="en-US" sz="5400" dirty="0"/>
              </a:p>
            </p:txBody>
          </p:sp>
          <p:sp>
            <p:nvSpPr>
              <p:cNvPr id="31" name="Text 6">
                <a:extLst>
                  <a:ext uri="{FF2B5EF4-FFF2-40B4-BE49-F238E27FC236}">
                    <a16:creationId xmlns:a16="http://schemas.microsoft.com/office/drawing/2014/main" id="{0494C436-41CD-4A96-8D0E-D34B1E57C5DB}"/>
                  </a:ext>
                </a:extLst>
              </p:cNvPr>
              <p:cNvSpPr/>
              <p:nvPr/>
            </p:nvSpPr>
            <p:spPr>
              <a:xfrm>
                <a:off x="3326774" y="3118649"/>
                <a:ext cx="2464426" cy="43088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spAutoFit/>
              </a:bodyPr>
              <a:lstStyle/>
              <a:p>
                <a:pPr marL="0" indent="0" algn="ctr">
                  <a:buNone/>
                </a:pPr>
                <a:r>
                  <a:rPr lang="en-US" sz="2800" dirty="0">
                    <a:cs typeface="Arial" pitchFamily="34" charset="-120"/>
                  </a:rPr>
                  <a:t>Customers</a:t>
                </a:r>
                <a:endParaRPr lang="en-US" sz="2800" dirty="0"/>
              </a:p>
            </p:txBody>
          </p:sp>
        </p:grp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BA919C0-A03A-44D0-98CF-6AEA2E13863B}"/>
                </a:ext>
              </a:extLst>
            </p:cNvPr>
            <p:cNvSpPr txBox="1"/>
            <p:nvPr/>
          </p:nvSpPr>
          <p:spPr>
            <a:xfrm>
              <a:off x="974090" y="4742820"/>
              <a:ext cx="1997710" cy="6544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lnSpc>
                  <a:spcPts val="5000"/>
                </a:lnSpc>
              </a:pPr>
              <a:r>
                <a:rPr lang="en-US" sz="2400" b="1" dirty="0"/>
                <a:t>Woman Email</a:t>
              </a:r>
            </a:p>
          </p:txBody>
        </p: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1D59E2C3-C3D4-4933-9A71-3543051EF7CF}"/>
                </a:ext>
              </a:extLst>
            </p:cNvPr>
            <p:cNvGrpSpPr/>
            <p:nvPr/>
          </p:nvGrpSpPr>
          <p:grpSpPr>
            <a:xfrm>
              <a:off x="1055564" y="5459756"/>
              <a:ext cx="5322678" cy="128587"/>
              <a:chOff x="889105" y="4650895"/>
              <a:chExt cx="4841530" cy="112360"/>
            </a:xfrm>
          </p:grpSpPr>
          <p:sp>
            <p:nvSpPr>
              <p:cNvPr id="41" name="Shape 10">
                <a:extLst>
                  <a:ext uri="{FF2B5EF4-FFF2-40B4-BE49-F238E27FC236}">
                    <a16:creationId xmlns:a16="http://schemas.microsoft.com/office/drawing/2014/main" id="{F2852B62-7CA7-4700-AA08-30DE33508873}"/>
                  </a:ext>
                </a:extLst>
              </p:cNvPr>
              <p:cNvSpPr/>
              <p:nvPr/>
            </p:nvSpPr>
            <p:spPr>
              <a:xfrm>
                <a:off x="889106" y="4650895"/>
                <a:ext cx="4841529" cy="11236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12700">
                <a:solidFill>
                  <a:srgbClr val="E6002D">
                    <a:alpha val="0"/>
                  </a:srgbClr>
                </a:solidFill>
                <a:prstDash val="solid"/>
              </a:ln>
            </p:spPr>
          </p:sp>
          <p:sp>
            <p:nvSpPr>
              <p:cNvPr id="42" name="Shape 10">
                <a:extLst>
                  <a:ext uri="{FF2B5EF4-FFF2-40B4-BE49-F238E27FC236}">
                    <a16:creationId xmlns:a16="http://schemas.microsoft.com/office/drawing/2014/main" id="{6301B41C-7E7F-490B-9DA4-AC09244B7024}"/>
                  </a:ext>
                </a:extLst>
              </p:cNvPr>
              <p:cNvSpPr/>
              <p:nvPr/>
            </p:nvSpPr>
            <p:spPr>
              <a:xfrm>
                <a:off x="889105" y="4650895"/>
                <a:ext cx="1743015" cy="112360"/>
              </a:xfrm>
              <a:prstGeom prst="rect">
                <a:avLst/>
              </a:prstGeom>
              <a:solidFill>
                <a:srgbClr val="FF0000"/>
              </a:solidFill>
              <a:ln w="12700">
                <a:solidFill>
                  <a:srgbClr val="E6002D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5F520341-D08C-4483-B8F9-D233940BF4C0}"/>
                </a:ext>
              </a:extLst>
            </p:cNvPr>
            <p:cNvSpPr txBox="1"/>
            <p:nvPr/>
          </p:nvSpPr>
          <p:spPr>
            <a:xfrm>
              <a:off x="6350072" y="5097739"/>
              <a:ext cx="959627" cy="6544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lnSpc>
                  <a:spcPts val="5000"/>
                </a:lnSpc>
              </a:pPr>
              <a:r>
                <a:rPr lang="en-US" sz="2400" dirty="0"/>
                <a:t>33,4%</a:t>
              </a:r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79CEA405-A3BB-446B-9A96-E406C3ACF3F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4559" y="5594978"/>
            <a:ext cx="6172200" cy="452737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1316482-A208-4AC2-B2F5-DFFD751DD9B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102" y="6050969"/>
            <a:ext cx="3734097" cy="406445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34AE464-DCE4-4E75-9DA8-D701BDE3EB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0" y="6063773"/>
            <a:ext cx="3999516" cy="4064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923506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29905E-B892-F999-00FC-0B9EE8144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558BF6B-9809-F25F-29FA-7E7380FFB9A3}"/>
              </a:ext>
            </a:extLst>
          </p:cNvPr>
          <p:cNvGrpSpPr/>
          <p:nvPr/>
        </p:nvGrpSpPr>
        <p:grpSpPr>
          <a:xfrm>
            <a:off x="0" y="10287"/>
            <a:ext cx="18288000" cy="1254146"/>
            <a:chOff x="0" y="0"/>
            <a:chExt cx="3762963" cy="25805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CE75914-2991-8313-8D22-FBB97CD170EA}"/>
                </a:ext>
              </a:extLst>
            </p:cNvPr>
            <p:cNvSpPr/>
            <p:nvPr/>
          </p:nvSpPr>
          <p:spPr>
            <a:xfrm>
              <a:off x="0" y="0"/>
              <a:ext cx="3762963" cy="258055"/>
            </a:xfrm>
            <a:custGeom>
              <a:avLst/>
              <a:gdLst/>
              <a:ahLst/>
              <a:cxnLst/>
              <a:rect l="l" t="t" r="r" b="b"/>
              <a:pathLst>
                <a:path w="3762963" h="258055">
                  <a:moveTo>
                    <a:pt x="0" y="0"/>
                  </a:moveTo>
                  <a:lnTo>
                    <a:pt x="3762963" y="0"/>
                  </a:lnTo>
                  <a:lnTo>
                    <a:pt x="3762963" y="258055"/>
                  </a:lnTo>
                  <a:lnTo>
                    <a:pt x="0" y="258055"/>
                  </a:lnTo>
                  <a:close/>
                </a:path>
              </a:pathLst>
            </a:custGeom>
            <a:solidFill>
              <a:srgbClr val="EA0A2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974BCC76-929C-0A7A-E917-A1A2F68318C9}"/>
                </a:ext>
              </a:extLst>
            </p:cNvPr>
            <p:cNvSpPr txBox="1"/>
            <p:nvPr/>
          </p:nvSpPr>
          <p:spPr>
            <a:xfrm>
              <a:off x="0" y="-9525"/>
              <a:ext cx="3762963" cy="2675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9515163D-5FA3-3A53-5C8C-0A93D44FCF64}"/>
              </a:ext>
            </a:extLst>
          </p:cNvPr>
          <p:cNvSpPr/>
          <p:nvPr/>
        </p:nvSpPr>
        <p:spPr>
          <a:xfrm>
            <a:off x="16561807" y="340119"/>
            <a:ext cx="1114652" cy="594481"/>
          </a:xfrm>
          <a:custGeom>
            <a:avLst/>
            <a:gdLst/>
            <a:ahLst/>
            <a:cxnLst/>
            <a:rect l="l" t="t" r="r" b="b"/>
            <a:pathLst>
              <a:path w="1114652" h="594481">
                <a:moveTo>
                  <a:pt x="0" y="0"/>
                </a:moveTo>
                <a:lnTo>
                  <a:pt x="1114652" y="0"/>
                </a:lnTo>
                <a:lnTo>
                  <a:pt x="1114652" y="594481"/>
                </a:lnTo>
                <a:lnTo>
                  <a:pt x="0" y="5944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02AB36-7CD1-7E96-B71D-4691D368AEC7}"/>
              </a:ext>
            </a:extLst>
          </p:cNvPr>
          <p:cNvSpPr txBox="1"/>
          <p:nvPr/>
        </p:nvSpPr>
        <p:spPr>
          <a:xfrm>
            <a:off x="455259" y="229493"/>
            <a:ext cx="12725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RETAILHERO DATASET</a:t>
            </a:r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CB11A8D6-6D30-4241-A48E-C2E2B211BAD6}"/>
              </a:ext>
            </a:extLst>
          </p:cNvPr>
          <p:cNvSpPr/>
          <p:nvPr/>
        </p:nvSpPr>
        <p:spPr>
          <a:xfrm>
            <a:off x="455260" y="1541552"/>
            <a:ext cx="7012340" cy="8573868"/>
          </a:xfrm>
          <a:prstGeom prst="roundRect">
            <a:avLst>
              <a:gd name="adj" fmla="val 1882"/>
            </a:avLst>
          </a:prstGeom>
          <a:solidFill>
            <a:srgbClr val="FFF3F5"/>
          </a:solidFill>
          <a:ln w="7620">
            <a:solidFill>
              <a:srgbClr val="FFF3F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C338094C-F59C-4DA4-9123-9930F8A362BA}"/>
              </a:ext>
            </a:extLst>
          </p:cNvPr>
          <p:cNvSpPr/>
          <p:nvPr/>
        </p:nvSpPr>
        <p:spPr>
          <a:xfrm>
            <a:off x="304800" y="1866900"/>
            <a:ext cx="4041290" cy="461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3000" b="1" kern="0" spc="120" dirty="0">
                <a:solidFill>
                  <a:srgbClr val="E6002D"/>
                </a:solidFill>
                <a:ea typeface="Arial" pitchFamily="34" charset="-122"/>
                <a:cs typeface="Arial" pitchFamily="34" charset="-120"/>
              </a:rPr>
              <a:t>DATA CONTEXT</a:t>
            </a:r>
            <a:endParaRPr lang="en-US" sz="3000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4A51070A-C639-4131-80AB-DC85C9E5E314}"/>
              </a:ext>
            </a:extLst>
          </p:cNvPr>
          <p:cNvGrpSpPr/>
          <p:nvPr/>
        </p:nvGrpSpPr>
        <p:grpSpPr>
          <a:xfrm>
            <a:off x="838200" y="3562617"/>
            <a:ext cx="6239253" cy="1809483"/>
            <a:chOff x="1058545" y="3178765"/>
            <a:chExt cx="6239253" cy="180948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367C448-9FF4-4B17-8C0F-6F8F10BA109D}"/>
                </a:ext>
              </a:extLst>
            </p:cNvPr>
            <p:cNvGrpSpPr/>
            <p:nvPr/>
          </p:nvGrpSpPr>
          <p:grpSpPr>
            <a:xfrm>
              <a:off x="1139398" y="3883074"/>
              <a:ext cx="5181619" cy="135989"/>
              <a:chOff x="925095" y="5093512"/>
              <a:chExt cx="4841529" cy="124577"/>
            </a:xfrm>
          </p:grpSpPr>
          <p:sp>
            <p:nvSpPr>
              <p:cNvPr id="29" name="Shape 10">
                <a:extLst>
                  <a:ext uri="{FF2B5EF4-FFF2-40B4-BE49-F238E27FC236}">
                    <a16:creationId xmlns:a16="http://schemas.microsoft.com/office/drawing/2014/main" id="{0C0D5756-3681-4B54-9BE6-016D582B136D}"/>
                  </a:ext>
                </a:extLst>
              </p:cNvPr>
              <p:cNvSpPr/>
              <p:nvPr/>
            </p:nvSpPr>
            <p:spPr>
              <a:xfrm>
                <a:off x="925095" y="5105729"/>
                <a:ext cx="4841529" cy="11236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12700">
                <a:solidFill>
                  <a:srgbClr val="E6002D">
                    <a:alpha val="0"/>
                  </a:srgbClr>
                </a:solidFill>
                <a:prstDash val="solid"/>
              </a:ln>
            </p:spPr>
          </p:sp>
          <p:sp>
            <p:nvSpPr>
              <p:cNvPr id="30" name="Shape 10">
                <a:extLst>
                  <a:ext uri="{FF2B5EF4-FFF2-40B4-BE49-F238E27FC236}">
                    <a16:creationId xmlns:a16="http://schemas.microsoft.com/office/drawing/2014/main" id="{D12A588F-F587-4981-AB87-15CBFF7642AB}"/>
                  </a:ext>
                </a:extLst>
              </p:cNvPr>
              <p:cNvSpPr/>
              <p:nvPr/>
            </p:nvSpPr>
            <p:spPr>
              <a:xfrm>
                <a:off x="928461" y="5093512"/>
                <a:ext cx="2519613" cy="124577"/>
              </a:xfrm>
              <a:prstGeom prst="rect">
                <a:avLst/>
              </a:prstGeom>
              <a:solidFill>
                <a:srgbClr val="FF0000"/>
              </a:solidFill>
              <a:ln w="12700">
                <a:solidFill>
                  <a:srgbClr val="E6002D">
                    <a:alpha val="0"/>
                  </a:srgbClr>
                </a:solidFill>
                <a:prstDash val="solid"/>
              </a:ln>
            </p:spPr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F83360F-E809-43F6-BDCA-823A8EEFC311}"/>
                </a:ext>
              </a:extLst>
            </p:cNvPr>
            <p:cNvSpPr txBox="1"/>
            <p:nvPr/>
          </p:nvSpPr>
          <p:spPr>
            <a:xfrm>
              <a:off x="1058545" y="3178765"/>
              <a:ext cx="1659835" cy="71040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lvl="0">
                <a:lnSpc>
                  <a:spcPts val="5000"/>
                </a:lnSpc>
              </a:pPr>
              <a:r>
                <a:rPr lang="en-US" sz="2400" b="1" dirty="0"/>
                <a:t>Treatment</a:t>
              </a:r>
              <a:endParaRPr lang="en-US" sz="2400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EF10376-7F60-4994-9F31-4461155E61A1}"/>
                </a:ext>
              </a:extLst>
            </p:cNvPr>
            <p:cNvSpPr txBox="1"/>
            <p:nvPr/>
          </p:nvSpPr>
          <p:spPr>
            <a:xfrm>
              <a:off x="6305649" y="3496991"/>
              <a:ext cx="948918" cy="6544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lnSpc>
                  <a:spcPts val="5000"/>
                </a:lnSpc>
              </a:pPr>
              <a:r>
                <a:rPr lang="en-US" sz="2400" dirty="0"/>
                <a:t>~50%</a:t>
              </a: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77CAE33-061F-4247-9BCF-7980ACC97184}"/>
                </a:ext>
              </a:extLst>
            </p:cNvPr>
            <p:cNvGrpSpPr/>
            <p:nvPr/>
          </p:nvGrpSpPr>
          <p:grpSpPr>
            <a:xfrm>
              <a:off x="1139398" y="4677012"/>
              <a:ext cx="5263280" cy="158448"/>
              <a:chOff x="889106" y="4650895"/>
              <a:chExt cx="4841529" cy="112360"/>
            </a:xfrm>
          </p:grpSpPr>
          <p:sp>
            <p:nvSpPr>
              <p:cNvPr id="27" name="Shape 10">
                <a:extLst>
                  <a:ext uri="{FF2B5EF4-FFF2-40B4-BE49-F238E27FC236}">
                    <a16:creationId xmlns:a16="http://schemas.microsoft.com/office/drawing/2014/main" id="{501A0D67-E8C3-4676-B384-69FF6F6CBA8B}"/>
                  </a:ext>
                </a:extLst>
              </p:cNvPr>
              <p:cNvSpPr/>
              <p:nvPr/>
            </p:nvSpPr>
            <p:spPr>
              <a:xfrm>
                <a:off x="889106" y="4650895"/>
                <a:ext cx="4841529" cy="11236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12700">
                <a:solidFill>
                  <a:srgbClr val="E6002D">
                    <a:alpha val="0"/>
                  </a:srgbClr>
                </a:solidFill>
                <a:prstDash val="solid"/>
              </a:ln>
            </p:spPr>
          </p:sp>
          <p:sp>
            <p:nvSpPr>
              <p:cNvPr id="28" name="Shape 10">
                <a:extLst>
                  <a:ext uri="{FF2B5EF4-FFF2-40B4-BE49-F238E27FC236}">
                    <a16:creationId xmlns:a16="http://schemas.microsoft.com/office/drawing/2014/main" id="{4A3FAFF3-1105-4C3E-A61D-D49A05AF6629}"/>
                  </a:ext>
                </a:extLst>
              </p:cNvPr>
              <p:cNvSpPr/>
              <p:nvPr/>
            </p:nvSpPr>
            <p:spPr>
              <a:xfrm>
                <a:off x="889106" y="4650895"/>
                <a:ext cx="2480521" cy="96434"/>
              </a:xfrm>
              <a:prstGeom prst="rect">
                <a:avLst/>
              </a:prstGeom>
              <a:solidFill>
                <a:srgbClr val="FF0000"/>
              </a:solidFill>
              <a:ln w="12700">
                <a:solidFill>
                  <a:srgbClr val="E6002D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CC2250D-BB1F-4179-8DF0-3815C7C15318}"/>
                </a:ext>
              </a:extLst>
            </p:cNvPr>
            <p:cNvSpPr txBox="1"/>
            <p:nvPr/>
          </p:nvSpPr>
          <p:spPr>
            <a:xfrm>
              <a:off x="1058546" y="4019065"/>
              <a:ext cx="1659834" cy="7104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lnSpc>
                  <a:spcPts val="5000"/>
                </a:lnSpc>
              </a:pPr>
              <a:r>
                <a:rPr lang="en-US" sz="2400" b="1" dirty="0"/>
                <a:t>Control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60A74F5-DFCB-4CC1-89F9-F41106842CDF}"/>
                </a:ext>
              </a:extLst>
            </p:cNvPr>
            <p:cNvSpPr txBox="1"/>
            <p:nvPr/>
          </p:nvSpPr>
          <p:spPr>
            <a:xfrm>
              <a:off x="6348880" y="4333773"/>
              <a:ext cx="948918" cy="6544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lnSpc>
                  <a:spcPts val="5000"/>
                </a:lnSpc>
              </a:pPr>
              <a:r>
                <a:rPr lang="en-US" sz="2400" dirty="0"/>
                <a:t>~50%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F1A880C-363E-480F-A560-6931173AAB15}"/>
              </a:ext>
            </a:extLst>
          </p:cNvPr>
          <p:cNvGrpSpPr/>
          <p:nvPr/>
        </p:nvGrpSpPr>
        <p:grpSpPr>
          <a:xfrm>
            <a:off x="4419600" y="2730293"/>
            <a:ext cx="2457490" cy="902009"/>
            <a:chOff x="1387598" y="2733309"/>
            <a:chExt cx="3626636" cy="752575"/>
          </a:xfrm>
        </p:grpSpPr>
        <p:sp>
          <p:nvSpPr>
            <p:cNvPr id="25" name="Text 5">
              <a:extLst>
                <a:ext uri="{FF2B5EF4-FFF2-40B4-BE49-F238E27FC236}">
                  <a16:creationId xmlns:a16="http://schemas.microsoft.com/office/drawing/2014/main" id="{F4500EC2-F85C-47A3-9010-3A0EB1E8B88C}"/>
                </a:ext>
              </a:extLst>
            </p:cNvPr>
            <p:cNvSpPr/>
            <p:nvPr/>
          </p:nvSpPr>
          <p:spPr>
            <a:xfrm>
              <a:off x="1387598" y="2733309"/>
              <a:ext cx="808604" cy="7525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spAutoFit/>
            </a:bodyPr>
            <a:lstStyle/>
            <a:p>
              <a:pPr marL="0" indent="0" algn="ctr">
                <a:buNone/>
              </a:pPr>
              <a:r>
                <a:rPr lang="en-US" sz="5400" b="1" dirty="0">
                  <a:solidFill>
                    <a:srgbClr val="111111"/>
                  </a:solidFill>
                  <a:ea typeface="Arial" pitchFamily="34" charset="-122"/>
                  <a:cs typeface="Arial" pitchFamily="34" charset="-120"/>
                </a:rPr>
                <a:t>4</a:t>
              </a:r>
              <a:endParaRPr lang="en-US" sz="5400" dirty="0"/>
            </a:p>
          </p:txBody>
        </p:sp>
        <p:sp>
          <p:nvSpPr>
            <p:cNvPr id="26" name="Text 6">
              <a:extLst>
                <a:ext uri="{FF2B5EF4-FFF2-40B4-BE49-F238E27FC236}">
                  <a16:creationId xmlns:a16="http://schemas.microsoft.com/office/drawing/2014/main" id="{368DA4B8-B495-4FD2-AB5C-824392A32B8C}"/>
                </a:ext>
              </a:extLst>
            </p:cNvPr>
            <p:cNvSpPr/>
            <p:nvPr/>
          </p:nvSpPr>
          <p:spPr>
            <a:xfrm>
              <a:off x="2014344" y="3021176"/>
              <a:ext cx="2999890" cy="30814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spAutoFit/>
            </a:bodyPr>
            <a:lstStyle/>
            <a:p>
              <a:pPr marL="0" indent="0" algn="ctr">
                <a:buNone/>
              </a:pPr>
              <a:r>
                <a:rPr lang="en-US" sz="2400" dirty="0" err="1">
                  <a:cs typeface="Arial" pitchFamily="34" charset="-120"/>
                </a:rPr>
                <a:t>Bảng</a:t>
              </a:r>
              <a:r>
                <a:rPr lang="en-US" sz="2400" dirty="0">
                  <a:cs typeface="Arial" pitchFamily="34" charset="-120"/>
                </a:rPr>
                <a:t> </a:t>
              </a:r>
              <a:r>
                <a:rPr lang="en-US" sz="2400" dirty="0" err="1">
                  <a:cs typeface="Arial" pitchFamily="34" charset="-120"/>
                </a:rPr>
                <a:t>dữ</a:t>
              </a:r>
              <a:r>
                <a:rPr lang="en-US" sz="2400" dirty="0">
                  <a:cs typeface="Arial" pitchFamily="34" charset="-120"/>
                </a:rPr>
                <a:t> </a:t>
              </a:r>
              <a:r>
                <a:rPr lang="en-US" sz="2400" dirty="0" err="1">
                  <a:cs typeface="Arial" pitchFamily="34" charset="-120"/>
                </a:rPr>
                <a:t>liệu</a:t>
              </a:r>
              <a:r>
                <a:rPr lang="en-US" sz="2400" dirty="0">
                  <a:cs typeface="Arial" pitchFamily="34" charset="-120"/>
                </a:rPr>
                <a:t> </a:t>
              </a:r>
              <a:endParaRPr lang="en-US" sz="2400" dirty="0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8BF639FE-5C92-4DB5-8A1B-823DE67AC4D7}"/>
              </a:ext>
            </a:extLst>
          </p:cNvPr>
          <p:cNvSpPr txBox="1"/>
          <p:nvPr/>
        </p:nvSpPr>
        <p:spPr>
          <a:xfrm>
            <a:off x="7886569" y="1409700"/>
            <a:ext cx="9769419" cy="1001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100" dirty="0">
                <a:solidFill>
                  <a:srgbClr val="222222"/>
                </a:solidFill>
                <a:latin typeface="Leelawadee UI" panose="020B0502040204020203" pitchFamily="34" charset="-34"/>
                <a:ea typeface="Calibri" panose="020F0502020204030204" pitchFamily="34" charset="0"/>
                <a:cs typeface="Calibri" panose="020F0502020204030204" pitchFamily="34" charset="0"/>
              </a:rPr>
              <a:t>Campaign có positive average effect </a:t>
            </a:r>
            <a:r>
              <a:rPr lang="vi-VN" sz="2100" b="1" dirty="0">
                <a:solidFill>
                  <a:srgbClr val="222222"/>
                </a:solidFill>
                <a:latin typeface="Leelawadee UI" panose="020B0502040204020203" pitchFamily="34" charset="-34"/>
                <a:ea typeface="Calibri" panose="020F0502020204030204" pitchFamily="34" charset="0"/>
                <a:cs typeface="Calibri" panose="020F0502020204030204" pitchFamily="34" charset="0"/>
              </a:rPr>
              <a:t>(+3.32 pp)</a:t>
            </a:r>
            <a:r>
              <a:rPr lang="vi-VN" sz="2100" dirty="0">
                <a:solidFill>
                  <a:srgbClr val="222222"/>
                </a:solidFill>
                <a:latin typeface="Leelawadee UI" panose="020B0502040204020203" pitchFamily="34" charset="-34"/>
                <a:ea typeface="Calibri" panose="020F0502020204030204" pitchFamily="34" charset="0"/>
                <a:cs typeface="Calibri" panose="020F0502020204030204" pitchFamily="34" charset="0"/>
              </a:rPr>
              <a:t>, nhưng treatment effect không đồng nhất giữa khách hàng</a:t>
            </a:r>
            <a:endParaRPr lang="en-US" sz="2100" dirty="0">
              <a:solidFill>
                <a:srgbClr val="222222"/>
              </a:solidFill>
              <a:latin typeface="Leelawadee UI" panose="020B0502040204020203" pitchFamily="34" charset="-34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A7DDF5C9-050D-4C00-8462-3F72650E66E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590" y="5543924"/>
            <a:ext cx="5263280" cy="4483680"/>
          </a:xfrm>
          <a:prstGeom prst="rect">
            <a:avLst/>
          </a:prstGeom>
        </p:spPr>
      </p:pic>
      <p:grpSp>
        <p:nvGrpSpPr>
          <p:cNvPr id="37" name="Group 36">
            <a:extLst>
              <a:ext uri="{FF2B5EF4-FFF2-40B4-BE49-F238E27FC236}">
                <a16:creationId xmlns:a16="http://schemas.microsoft.com/office/drawing/2014/main" id="{6971BEB5-6D9D-4540-A424-AF8B9E36AB7C}"/>
              </a:ext>
            </a:extLst>
          </p:cNvPr>
          <p:cNvGrpSpPr/>
          <p:nvPr/>
        </p:nvGrpSpPr>
        <p:grpSpPr>
          <a:xfrm>
            <a:off x="742092" y="2734077"/>
            <a:ext cx="3525108" cy="830997"/>
            <a:chOff x="552330" y="2734077"/>
            <a:chExt cx="3525108" cy="830997"/>
          </a:xfrm>
        </p:grpSpPr>
        <p:sp>
          <p:nvSpPr>
            <p:cNvPr id="34" name="Text 5">
              <a:extLst>
                <a:ext uri="{FF2B5EF4-FFF2-40B4-BE49-F238E27FC236}">
                  <a16:creationId xmlns:a16="http://schemas.microsoft.com/office/drawing/2014/main" id="{5CE08418-22D0-48E8-BC8B-98977D27E8C1}"/>
                </a:ext>
              </a:extLst>
            </p:cNvPr>
            <p:cNvSpPr/>
            <p:nvPr/>
          </p:nvSpPr>
          <p:spPr>
            <a:xfrm>
              <a:off x="552330" y="2734077"/>
              <a:ext cx="1970039" cy="83099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spAutoFit/>
            </a:bodyPr>
            <a:lstStyle/>
            <a:p>
              <a:pPr marL="0" indent="0" algn="ctr">
                <a:buNone/>
              </a:pPr>
              <a:r>
                <a:rPr lang="en-US" sz="5400" b="1" dirty="0">
                  <a:solidFill>
                    <a:srgbClr val="111111"/>
                  </a:solidFill>
                  <a:ea typeface="Arial" pitchFamily="34" charset="-122"/>
                  <a:cs typeface="Arial" pitchFamily="34" charset="-120"/>
                </a:rPr>
                <a:t>~200K</a:t>
              </a:r>
              <a:endParaRPr lang="en-US" sz="5400" dirty="0"/>
            </a:p>
          </p:txBody>
        </p:sp>
        <p:sp>
          <p:nvSpPr>
            <p:cNvPr id="35" name="Text 6">
              <a:extLst>
                <a:ext uri="{FF2B5EF4-FFF2-40B4-BE49-F238E27FC236}">
                  <a16:creationId xmlns:a16="http://schemas.microsoft.com/office/drawing/2014/main" id="{776710C1-F5C7-449C-863D-23F5477EDB25}"/>
                </a:ext>
              </a:extLst>
            </p:cNvPr>
            <p:cNvSpPr/>
            <p:nvPr/>
          </p:nvSpPr>
          <p:spPr>
            <a:xfrm>
              <a:off x="2325445" y="3113080"/>
              <a:ext cx="1751993" cy="3693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spAutoFit/>
            </a:bodyPr>
            <a:lstStyle/>
            <a:p>
              <a:pPr marL="0" indent="0" algn="ctr">
                <a:buNone/>
              </a:pPr>
              <a:r>
                <a:rPr lang="en-US" sz="2400" dirty="0">
                  <a:cs typeface="Arial" pitchFamily="34" charset="-120"/>
                </a:rPr>
                <a:t>Customers</a:t>
              </a:r>
              <a:endParaRPr lang="en-US" sz="2400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C836105-41EB-4F21-97DD-41BA6843264D}"/>
              </a:ext>
            </a:extLst>
          </p:cNvPr>
          <p:cNvGrpSpPr/>
          <p:nvPr/>
        </p:nvGrpSpPr>
        <p:grpSpPr>
          <a:xfrm>
            <a:off x="7284343" y="2618953"/>
            <a:ext cx="11034149" cy="3448893"/>
            <a:chOff x="7504369" y="2991311"/>
            <a:chExt cx="10814119" cy="299620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199201ED-FBC0-4B77-9FBB-766C7834AF9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478000" y="2999952"/>
              <a:ext cx="3840488" cy="2987559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844D0A19-7967-475C-8C22-50AF345F5FD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38136" y="2991311"/>
              <a:ext cx="3840488" cy="2987559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D70112A4-D9B9-4BE2-ABE7-1AC50E3012E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04369" y="2999952"/>
              <a:ext cx="3913627" cy="2961872"/>
            </a:xfrm>
            <a:prstGeom prst="rect">
              <a:avLst/>
            </a:prstGeom>
          </p:spPr>
        </p:pic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5AD9749D-9724-4DE4-BB7A-4E361FEF7646}"/>
              </a:ext>
            </a:extLst>
          </p:cNvPr>
          <p:cNvSpPr txBox="1"/>
          <p:nvPr/>
        </p:nvSpPr>
        <p:spPr>
          <a:xfrm>
            <a:off x="7924800" y="6057900"/>
            <a:ext cx="10314954" cy="38807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100" dirty="0">
                <a:solidFill>
                  <a:srgbClr val="222222"/>
                </a:solidFill>
                <a:latin typeface="Leelawadee UI" panose="020B0502040204020203" pitchFamily="34" charset="-34"/>
                <a:ea typeface="Calibri" panose="020F0502020204030204" pitchFamily="34" charset="0"/>
                <a:cs typeface="Calibri" panose="020F0502020204030204" pitchFamily="34" charset="0"/>
              </a:rPr>
              <a:t>Chuyển dữ liệu giao dịch thành đặc trưng hành vi ở cấp khách h</a:t>
            </a:r>
            <a:r>
              <a:rPr lang="en-US" sz="2100" dirty="0" err="1">
                <a:solidFill>
                  <a:srgbClr val="222222"/>
                </a:solidFill>
                <a:latin typeface="Leelawadee UI" panose="020B0502040204020203" pitchFamily="34" charset="-34"/>
                <a:ea typeface="Calibri" panose="020F0502020204030204" pitchFamily="34" charset="0"/>
                <a:cs typeface="Calibri" panose="020F0502020204030204" pitchFamily="34" charset="0"/>
              </a:rPr>
              <a:t>àng</a:t>
            </a:r>
            <a:r>
              <a:rPr lang="en-US" sz="2100" dirty="0">
                <a:solidFill>
                  <a:srgbClr val="222222"/>
                </a:solidFill>
                <a:latin typeface="Leelawadee UI" panose="020B0502040204020203" pitchFamily="34" charset="-34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100" dirty="0">
                <a:solidFill>
                  <a:srgbClr val="222222"/>
                </a:solidFill>
                <a:latin typeface="Leelawadee UI" panose="020B0502040204020203" pitchFamily="34" charset="-34"/>
                <a:ea typeface="Calibri" panose="020F0502020204030204" pitchFamily="34" charset="0"/>
                <a:cs typeface="Calibri" panose="020F0502020204030204" pitchFamily="34" charset="0"/>
              </a:rPr>
              <a:t>4 nhóm đặc trưng chính:</a:t>
            </a:r>
            <a:endParaRPr lang="en-US" sz="2100" dirty="0">
              <a:solidFill>
                <a:srgbClr val="222222"/>
              </a:solidFill>
              <a:latin typeface="Leelawadee UI" panose="020B0502040204020203" pitchFamily="34" charset="-34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100" dirty="0">
                <a:solidFill>
                  <a:srgbClr val="222222"/>
                </a:solidFill>
                <a:latin typeface="Leelawadee UI" panose="020B0502040204020203" pitchFamily="34" charset="-34"/>
                <a:ea typeface="Calibri" panose="020F0502020204030204" pitchFamily="34" charset="0"/>
                <a:cs typeface="Calibri" panose="020F0502020204030204" pitchFamily="34" charset="0"/>
              </a:rPr>
              <a:t>Customer Value: Giá trị mua sắm &amp; phân khúc RFM.</a:t>
            </a:r>
            <a:endParaRPr lang="en-US" sz="2100" dirty="0">
              <a:solidFill>
                <a:srgbClr val="222222"/>
              </a:solidFill>
              <a:latin typeface="Leelawadee UI" panose="020B0502040204020203" pitchFamily="34" charset="-34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100" dirty="0">
                <a:solidFill>
                  <a:srgbClr val="222222"/>
                </a:solidFill>
                <a:latin typeface="Leelawadee UI" panose="020B0502040204020203" pitchFamily="34" charset="-34"/>
                <a:ea typeface="Calibri" panose="020F0502020204030204" pitchFamily="34" charset="0"/>
                <a:cs typeface="Calibri" panose="020F0502020204030204" pitchFamily="34" charset="0"/>
              </a:rPr>
              <a:t>Purchase Behavior: Tần suất, khoảng cách mua hàng &amp; lịch sử giao dịch.</a:t>
            </a:r>
            <a:endParaRPr lang="en-US" sz="2100" dirty="0">
              <a:solidFill>
                <a:srgbClr val="222222"/>
              </a:solidFill>
              <a:latin typeface="Leelawadee UI" panose="020B0502040204020203" pitchFamily="34" charset="-34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100" dirty="0">
                <a:solidFill>
                  <a:srgbClr val="222222"/>
                </a:solidFill>
                <a:latin typeface="Leelawadee UI" panose="020B0502040204020203" pitchFamily="34" charset="-34"/>
                <a:ea typeface="Calibri" panose="020F0502020204030204" pitchFamily="34" charset="0"/>
                <a:cs typeface="Calibri" panose="020F0502020204030204" pitchFamily="34" charset="0"/>
              </a:rPr>
              <a:t>Shopping Behavior: Thói quen lựa chọn cửa hàng &amp; kênh mua sắm.</a:t>
            </a:r>
            <a:endParaRPr lang="en-US" sz="2100" dirty="0">
              <a:solidFill>
                <a:srgbClr val="222222"/>
              </a:solidFill>
              <a:latin typeface="Leelawadee UI" panose="020B0502040204020203" pitchFamily="34" charset="-34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100" dirty="0">
                <a:solidFill>
                  <a:srgbClr val="222222"/>
                </a:solidFill>
                <a:latin typeface="Leelawadee UI" panose="020B0502040204020203" pitchFamily="34" charset="-34"/>
                <a:ea typeface="Calibri" panose="020F0502020204030204" pitchFamily="34" charset="0"/>
                <a:cs typeface="Calibri" panose="020F0502020204030204" pitchFamily="34" charset="0"/>
              </a:rPr>
              <a:t>Loyalty Activity: Mức độ gắn kết &amp; tương tác với chương trình thành viên</a:t>
            </a:r>
            <a:endParaRPr lang="en-US" sz="2100" dirty="0">
              <a:solidFill>
                <a:srgbClr val="222222"/>
              </a:solidFill>
              <a:latin typeface="Leelawadee UI" panose="020B0502040204020203" pitchFamily="34" charset="-34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100" dirty="0">
                <a:solidFill>
                  <a:srgbClr val="222222"/>
                </a:solidFill>
                <a:latin typeface="Leelawadee UI" panose="020B0502040204020203" pitchFamily="34" charset="-34"/>
                <a:ea typeface="Calibri" panose="020F0502020204030204" pitchFamily="34" charset="0"/>
                <a:cs typeface="Calibri" panose="020F0502020204030204" pitchFamily="34" charset="0"/>
              </a:rPr>
              <a:t>Hoàn thiện dataset modeling gồm 58 customer-level features + Treatment assignment + Outcome.</a:t>
            </a:r>
            <a:endParaRPr lang="en-US" sz="2100" dirty="0">
              <a:solidFill>
                <a:srgbClr val="222222"/>
              </a:solidFill>
              <a:latin typeface="Leelawadee UI" panose="020B0502040204020203" pitchFamily="34" charset="-34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7869131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29905E-B892-F999-00FC-0B9EE8144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558BF6B-9809-F25F-29FA-7E7380FFB9A3}"/>
              </a:ext>
            </a:extLst>
          </p:cNvPr>
          <p:cNvGrpSpPr/>
          <p:nvPr/>
        </p:nvGrpSpPr>
        <p:grpSpPr>
          <a:xfrm>
            <a:off x="0" y="10287"/>
            <a:ext cx="18288000" cy="1254146"/>
            <a:chOff x="0" y="0"/>
            <a:chExt cx="3762963" cy="25805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CE75914-2991-8313-8D22-FBB97CD170EA}"/>
                </a:ext>
              </a:extLst>
            </p:cNvPr>
            <p:cNvSpPr/>
            <p:nvPr/>
          </p:nvSpPr>
          <p:spPr>
            <a:xfrm>
              <a:off x="0" y="0"/>
              <a:ext cx="3762963" cy="258055"/>
            </a:xfrm>
            <a:custGeom>
              <a:avLst/>
              <a:gdLst/>
              <a:ahLst/>
              <a:cxnLst/>
              <a:rect l="l" t="t" r="r" b="b"/>
              <a:pathLst>
                <a:path w="3762963" h="258055">
                  <a:moveTo>
                    <a:pt x="0" y="0"/>
                  </a:moveTo>
                  <a:lnTo>
                    <a:pt x="3762963" y="0"/>
                  </a:lnTo>
                  <a:lnTo>
                    <a:pt x="3762963" y="258055"/>
                  </a:lnTo>
                  <a:lnTo>
                    <a:pt x="0" y="258055"/>
                  </a:lnTo>
                  <a:close/>
                </a:path>
              </a:pathLst>
            </a:custGeom>
            <a:solidFill>
              <a:srgbClr val="EA0A2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974BCC76-929C-0A7A-E917-A1A2F68318C9}"/>
                </a:ext>
              </a:extLst>
            </p:cNvPr>
            <p:cNvSpPr txBox="1"/>
            <p:nvPr/>
          </p:nvSpPr>
          <p:spPr>
            <a:xfrm>
              <a:off x="0" y="-9525"/>
              <a:ext cx="3762963" cy="2675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9515163D-5FA3-3A53-5C8C-0A93D44FCF64}"/>
              </a:ext>
            </a:extLst>
          </p:cNvPr>
          <p:cNvSpPr/>
          <p:nvPr/>
        </p:nvSpPr>
        <p:spPr>
          <a:xfrm>
            <a:off x="16561807" y="340119"/>
            <a:ext cx="1114652" cy="594481"/>
          </a:xfrm>
          <a:custGeom>
            <a:avLst/>
            <a:gdLst/>
            <a:ahLst/>
            <a:cxnLst/>
            <a:rect l="l" t="t" r="r" b="b"/>
            <a:pathLst>
              <a:path w="1114652" h="594481">
                <a:moveTo>
                  <a:pt x="0" y="0"/>
                </a:moveTo>
                <a:lnTo>
                  <a:pt x="1114652" y="0"/>
                </a:lnTo>
                <a:lnTo>
                  <a:pt x="1114652" y="594481"/>
                </a:lnTo>
                <a:lnTo>
                  <a:pt x="0" y="5944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02AB36-7CD1-7E96-B71D-4691D368AEC7}"/>
              </a:ext>
            </a:extLst>
          </p:cNvPr>
          <p:cNvSpPr txBox="1"/>
          <p:nvPr/>
        </p:nvSpPr>
        <p:spPr>
          <a:xfrm>
            <a:off x="455259" y="229493"/>
            <a:ext cx="12725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FRAMEWORK</a:t>
            </a:r>
          </a:p>
        </p:txBody>
      </p:sp>
      <p:graphicFrame>
        <p:nvGraphicFramePr>
          <p:cNvPr id="8" name="Table 9">
            <a:extLst>
              <a:ext uri="{FF2B5EF4-FFF2-40B4-BE49-F238E27FC236}">
                <a16:creationId xmlns:a16="http://schemas.microsoft.com/office/drawing/2014/main" id="{0EB17FC1-DFEB-45F0-B94A-665CFD9B97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3905687"/>
              </p:ext>
            </p:extLst>
          </p:nvPr>
        </p:nvGraphicFramePr>
        <p:xfrm>
          <a:off x="721959" y="1976071"/>
          <a:ext cx="12192000" cy="14833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14116924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058298399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87819385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404702854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93371857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06171669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2341132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4107590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client_id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recency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transactions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total_spend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… 54 features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treatment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outcome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48903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000012768d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2,803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12831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000036f903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9,805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65576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00010925a5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5,883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9190418"/>
                  </a:ext>
                </a:extLst>
              </a:tr>
            </a:tbl>
          </a:graphicData>
        </a:graphic>
      </p:graphicFrame>
      <p:graphicFrame>
        <p:nvGraphicFramePr>
          <p:cNvPr id="11" name="Table 11">
            <a:extLst>
              <a:ext uri="{FF2B5EF4-FFF2-40B4-BE49-F238E27FC236}">
                <a16:creationId xmlns:a16="http://schemas.microsoft.com/office/drawing/2014/main" id="{F87BAC57-0924-460F-8FB7-0D4D22490E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4896377"/>
              </p:ext>
            </p:extLst>
          </p:nvPr>
        </p:nvGraphicFramePr>
        <p:xfrm>
          <a:off x="702909" y="4365834"/>
          <a:ext cx="12192000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1784663898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230051647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671490063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561506959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14197957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Recommended Policy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Budget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/>
                        <a:t>Δ </a:t>
                      </a:r>
                      <a:r>
                        <a:rPr lang="en-US"/>
                        <a:t>Policy Value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95% CI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0521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T-Learner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Top 5%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+0.007818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[0.002821, 0.011853]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PASS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4631659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90191332-A6F3-4202-8226-BC55A2B31348}"/>
              </a:ext>
            </a:extLst>
          </p:cNvPr>
          <p:cNvSpPr txBox="1"/>
          <p:nvPr/>
        </p:nvSpPr>
        <p:spPr>
          <a:xfrm>
            <a:off x="702909" y="1367634"/>
            <a:ext cx="1257431" cy="516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2100" b="1" dirty="0">
                <a:solidFill>
                  <a:srgbClr val="222222"/>
                </a:solidFill>
                <a:latin typeface="Leelawadee UI" panose="020B0502040204020203" pitchFamily="34" charset="-34"/>
                <a:ea typeface="Calibri" panose="020F0502020204030204" pitchFamily="34" charset="0"/>
                <a:cs typeface="Calibri" panose="020F0502020204030204" pitchFamily="34" charset="0"/>
              </a:rPr>
              <a:t>INPUT: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453A01C-9531-4D5D-8D91-770E23F270A3}"/>
              </a:ext>
            </a:extLst>
          </p:cNvPr>
          <p:cNvSpPr txBox="1"/>
          <p:nvPr/>
        </p:nvSpPr>
        <p:spPr>
          <a:xfrm>
            <a:off x="721959" y="3654196"/>
            <a:ext cx="1564041" cy="516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2100" b="1" dirty="0">
                <a:solidFill>
                  <a:srgbClr val="222222"/>
                </a:solidFill>
                <a:latin typeface="Leelawadee UI" panose="020B0502040204020203" pitchFamily="34" charset="-34"/>
                <a:ea typeface="Calibri" panose="020F0502020204030204" pitchFamily="34" charset="0"/>
                <a:cs typeface="Calibri" panose="020F0502020204030204" pitchFamily="34" charset="0"/>
              </a:rPr>
              <a:t>OUTPUT: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CCBC6C6-4B34-4F2B-8522-068E7AAB5C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5321458"/>
            <a:ext cx="15697200" cy="4965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288065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29905E-B892-F999-00FC-0B9EE8144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558BF6B-9809-F25F-29FA-7E7380FFB9A3}"/>
              </a:ext>
            </a:extLst>
          </p:cNvPr>
          <p:cNvGrpSpPr/>
          <p:nvPr/>
        </p:nvGrpSpPr>
        <p:grpSpPr>
          <a:xfrm>
            <a:off x="0" y="10287"/>
            <a:ext cx="18288000" cy="1254146"/>
            <a:chOff x="0" y="0"/>
            <a:chExt cx="3762963" cy="25805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CE75914-2991-8313-8D22-FBB97CD170EA}"/>
                </a:ext>
              </a:extLst>
            </p:cNvPr>
            <p:cNvSpPr/>
            <p:nvPr/>
          </p:nvSpPr>
          <p:spPr>
            <a:xfrm>
              <a:off x="0" y="0"/>
              <a:ext cx="3762963" cy="258055"/>
            </a:xfrm>
            <a:custGeom>
              <a:avLst/>
              <a:gdLst/>
              <a:ahLst/>
              <a:cxnLst/>
              <a:rect l="l" t="t" r="r" b="b"/>
              <a:pathLst>
                <a:path w="3762963" h="258055">
                  <a:moveTo>
                    <a:pt x="0" y="0"/>
                  </a:moveTo>
                  <a:lnTo>
                    <a:pt x="3762963" y="0"/>
                  </a:lnTo>
                  <a:lnTo>
                    <a:pt x="3762963" y="258055"/>
                  </a:lnTo>
                  <a:lnTo>
                    <a:pt x="0" y="258055"/>
                  </a:lnTo>
                  <a:close/>
                </a:path>
              </a:pathLst>
            </a:custGeom>
            <a:solidFill>
              <a:srgbClr val="EA0A2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974BCC76-929C-0A7A-E917-A1A2F68318C9}"/>
                </a:ext>
              </a:extLst>
            </p:cNvPr>
            <p:cNvSpPr txBox="1"/>
            <p:nvPr/>
          </p:nvSpPr>
          <p:spPr>
            <a:xfrm>
              <a:off x="0" y="-9525"/>
              <a:ext cx="3762963" cy="2675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9515163D-5FA3-3A53-5C8C-0A93D44FCF64}"/>
              </a:ext>
            </a:extLst>
          </p:cNvPr>
          <p:cNvSpPr/>
          <p:nvPr/>
        </p:nvSpPr>
        <p:spPr>
          <a:xfrm>
            <a:off x="16561807" y="340119"/>
            <a:ext cx="1114652" cy="594481"/>
          </a:xfrm>
          <a:custGeom>
            <a:avLst/>
            <a:gdLst/>
            <a:ahLst/>
            <a:cxnLst/>
            <a:rect l="l" t="t" r="r" b="b"/>
            <a:pathLst>
              <a:path w="1114652" h="594481">
                <a:moveTo>
                  <a:pt x="0" y="0"/>
                </a:moveTo>
                <a:lnTo>
                  <a:pt x="1114652" y="0"/>
                </a:lnTo>
                <a:lnTo>
                  <a:pt x="1114652" y="594481"/>
                </a:lnTo>
                <a:lnTo>
                  <a:pt x="0" y="5944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02AB36-7CD1-7E96-B71D-4691D368AEC7}"/>
              </a:ext>
            </a:extLst>
          </p:cNvPr>
          <p:cNvSpPr txBox="1"/>
          <p:nvPr/>
        </p:nvSpPr>
        <p:spPr>
          <a:xfrm>
            <a:off x="455259" y="229493"/>
            <a:ext cx="12725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RESULTS</a:t>
            </a:r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9A07CBFB-101E-4D07-94AA-CD0DA672C1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7757591"/>
              </p:ext>
            </p:extLst>
          </p:nvPr>
        </p:nvGraphicFramePr>
        <p:xfrm>
          <a:off x="1581635" y="1597046"/>
          <a:ext cx="15124729" cy="80799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028185">
                  <a:extLst>
                    <a:ext uri="{9D8B030D-6E8A-4147-A177-3AD203B41FA5}">
                      <a16:colId xmlns:a16="http://schemas.microsoft.com/office/drawing/2014/main" val="3276761155"/>
                    </a:ext>
                  </a:extLst>
                </a:gridCol>
                <a:gridCol w="1690154">
                  <a:extLst>
                    <a:ext uri="{9D8B030D-6E8A-4147-A177-3AD203B41FA5}">
                      <a16:colId xmlns:a16="http://schemas.microsoft.com/office/drawing/2014/main" val="1017495092"/>
                    </a:ext>
                  </a:extLst>
                </a:gridCol>
                <a:gridCol w="2262867">
                  <a:extLst>
                    <a:ext uri="{9D8B030D-6E8A-4147-A177-3AD203B41FA5}">
                      <a16:colId xmlns:a16="http://schemas.microsoft.com/office/drawing/2014/main" val="1379941686"/>
                    </a:ext>
                  </a:extLst>
                </a:gridCol>
                <a:gridCol w="2723088">
                  <a:extLst>
                    <a:ext uri="{9D8B030D-6E8A-4147-A177-3AD203B41FA5}">
                      <a16:colId xmlns:a16="http://schemas.microsoft.com/office/drawing/2014/main" val="2720129865"/>
                    </a:ext>
                  </a:extLst>
                </a:gridCol>
                <a:gridCol w="4056370">
                  <a:extLst>
                    <a:ext uri="{9D8B030D-6E8A-4147-A177-3AD203B41FA5}">
                      <a16:colId xmlns:a16="http://schemas.microsoft.com/office/drawing/2014/main" val="2564631263"/>
                    </a:ext>
                  </a:extLst>
                </a:gridCol>
                <a:gridCol w="2364065">
                  <a:extLst>
                    <a:ext uri="{9D8B030D-6E8A-4147-A177-3AD203B41FA5}">
                      <a16:colId xmlns:a16="http://schemas.microsoft.com/office/drawing/2014/main" val="39896927"/>
                    </a:ext>
                  </a:extLst>
                </a:gridCol>
              </a:tblGrid>
              <a:tr h="864572"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Dataset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/>
                        <a:t>Outcome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/>
                        <a:t>Response Policy Value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/>
                        <a:t>Uplift Champion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/>
                        <a:t>Validation Gate (95% CI)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Final Decision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8541111"/>
                  </a:ext>
                </a:extLst>
              </a:tr>
              <a:tr h="1056699">
                <a:tc>
                  <a:txBody>
                    <a:bodyPr/>
                    <a:lstStyle/>
                    <a:p>
                      <a:pPr algn="ctr"/>
                      <a:r>
                        <a:rPr lang="en-US" sz="2100" b="1" dirty="0"/>
                        <a:t>Criteo</a:t>
                      </a:r>
                      <a:endParaRPr lang="en-US" sz="2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/>
                        <a:t>Visit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/>
                        <a:t>0.043857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/>
                        <a:t>X-Learner (0.045962)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b-NO" sz="2100" b="1" dirty="0"/>
                        <a:t>+0.002111</a:t>
                      </a:r>
                      <a:r>
                        <a:rPr lang="nb-NO" sz="2100" dirty="0"/>
                        <a:t> </a:t>
                      </a:r>
                    </a:p>
                    <a:p>
                      <a:pPr algn="ctr"/>
                      <a:r>
                        <a:rPr lang="nb-NO" sz="2100" b="1" dirty="0"/>
                        <a:t>[0.001744, 0.002444]</a:t>
                      </a:r>
                      <a:endParaRPr lang="nb-NO" sz="2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b="1"/>
                        <a:t>X-Learner</a:t>
                      </a:r>
                      <a:endParaRPr lang="en-US" sz="2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7265363"/>
                  </a:ext>
                </a:extLst>
              </a:tr>
              <a:tr h="1056699">
                <a:tc>
                  <a:txBody>
                    <a:bodyPr/>
                    <a:lstStyle/>
                    <a:p>
                      <a:pPr algn="ctr"/>
                      <a:r>
                        <a:rPr lang="en-US" sz="2100" b="1"/>
                        <a:t>Criteo</a:t>
                      </a:r>
                      <a:endParaRPr lang="en-US" sz="2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Conversion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/>
                        <a:t>0.002814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/>
                        <a:t>X-Learner (0.002803)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100" dirty="0"/>
                        <a:t>−0.000010 </a:t>
                      </a:r>
                    </a:p>
                    <a:p>
                      <a:pPr algn="ctr"/>
                      <a:r>
                        <a:rPr lang="fr-FR" sz="2100" b="1" dirty="0"/>
                        <a:t>[−0.000049, 0.000031]</a:t>
                      </a:r>
                      <a:endParaRPr lang="fr-FR" sz="2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b="1"/>
                        <a:t>Response</a:t>
                      </a:r>
                      <a:endParaRPr lang="en-US" sz="2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7178063"/>
                  </a:ext>
                </a:extLst>
              </a:tr>
              <a:tr h="853841">
                <a:tc>
                  <a:txBody>
                    <a:bodyPr/>
                    <a:lstStyle/>
                    <a:p>
                      <a:pPr algn="ctr"/>
                      <a:r>
                        <a:rPr lang="en-US" sz="2100" b="1"/>
                        <a:t>Hillstrom – Mens</a:t>
                      </a:r>
                      <a:endParaRPr lang="en-US" sz="2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/>
                        <a:t>Visit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/>
                        <a:t>0.123902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/>
                        <a:t>X-Learner (0.123434)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100" dirty="0"/>
                        <a:t>−0.000929 </a:t>
                      </a:r>
                    </a:p>
                    <a:p>
                      <a:pPr algn="ctr"/>
                      <a:r>
                        <a:rPr lang="fr-FR" sz="2100" b="1" dirty="0"/>
                        <a:t>[−0.008207, 0.005315]</a:t>
                      </a:r>
                      <a:endParaRPr lang="fr-FR" sz="2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b="1"/>
                        <a:t>Response</a:t>
                      </a:r>
                      <a:endParaRPr lang="en-US" sz="2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1908400"/>
                  </a:ext>
                </a:extLst>
              </a:tr>
              <a:tr h="853841">
                <a:tc>
                  <a:txBody>
                    <a:bodyPr/>
                    <a:lstStyle/>
                    <a:p>
                      <a:pPr algn="ctr"/>
                      <a:r>
                        <a:rPr lang="en-US" sz="2100" b="1"/>
                        <a:t>Hillstrom – Womens</a:t>
                      </a:r>
                      <a:endParaRPr lang="en-US" sz="2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/>
                        <a:t>Visit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/>
                        <a:t>0.123486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/>
                        <a:t>X-Learner (0.123773)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100" dirty="0"/>
                        <a:t>+0.000305 </a:t>
                      </a:r>
                    </a:p>
                    <a:p>
                      <a:pPr algn="ctr"/>
                      <a:r>
                        <a:rPr lang="fr-FR" sz="2100" b="1" dirty="0"/>
                        <a:t>[−0.007136, 0.008921]</a:t>
                      </a:r>
                      <a:endParaRPr lang="fr-FR" sz="2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b="1"/>
                        <a:t>Response</a:t>
                      </a:r>
                      <a:endParaRPr lang="en-US" sz="2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1420127"/>
                  </a:ext>
                </a:extLst>
              </a:tr>
              <a:tr h="1280930">
                <a:tc>
                  <a:txBody>
                    <a:bodyPr/>
                    <a:lstStyle/>
                    <a:p>
                      <a:pPr algn="ctr"/>
                      <a:r>
                        <a:rPr lang="en-US" sz="2100" b="1"/>
                        <a:t>Hillstrom – Mens</a:t>
                      </a:r>
                      <a:endParaRPr lang="en-US" sz="2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/>
                        <a:t>Conversion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/>
                        <a:t>0.007978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/>
                        <a:t>T-Learner (0.008213)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100" dirty="0"/>
                        <a:t>+0.000331 </a:t>
                      </a:r>
                    </a:p>
                    <a:p>
                      <a:pPr algn="ctr"/>
                      <a:r>
                        <a:rPr lang="fr-FR" sz="2100" b="1" dirty="0"/>
                        <a:t>[−0.000836, 0.001532]</a:t>
                      </a:r>
                      <a:endParaRPr lang="fr-FR" sz="2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b="1"/>
                        <a:t>Response</a:t>
                      </a:r>
                      <a:endParaRPr lang="en-US" sz="2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022310"/>
                  </a:ext>
                </a:extLst>
              </a:tr>
              <a:tr h="1056699">
                <a:tc>
                  <a:txBody>
                    <a:bodyPr/>
                    <a:lstStyle/>
                    <a:p>
                      <a:pPr algn="ctr"/>
                      <a:r>
                        <a:rPr lang="en-US" sz="2100" b="1"/>
                        <a:t>Hillstrom – Womens</a:t>
                      </a:r>
                      <a:endParaRPr lang="en-US" sz="2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/>
                        <a:t>Conversion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/>
                        <a:t>0.005157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/>
                        <a:t>T-Learner (0.005861)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100" dirty="0"/>
                        <a:t>+0.000677 </a:t>
                      </a:r>
                    </a:p>
                    <a:p>
                      <a:pPr algn="ctr"/>
                      <a:r>
                        <a:rPr lang="fr-FR" sz="2100" b="1" dirty="0"/>
                        <a:t>[−0.000355, 0.001647]</a:t>
                      </a:r>
                      <a:endParaRPr lang="fr-FR" sz="2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b="1"/>
                        <a:t>Response</a:t>
                      </a:r>
                      <a:endParaRPr lang="en-US" sz="2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8840642"/>
                  </a:ext>
                </a:extLst>
              </a:tr>
              <a:tr h="1056699">
                <a:tc>
                  <a:txBody>
                    <a:bodyPr/>
                    <a:lstStyle/>
                    <a:p>
                      <a:pPr algn="ctr"/>
                      <a:r>
                        <a:rPr lang="en-US" sz="2100" b="1"/>
                        <a:t>RetailHero</a:t>
                      </a:r>
                      <a:endParaRPr lang="en-US" sz="2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/>
                        <a:t>Purchase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/>
                        <a:t>0.603352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T-Learner (0.610984)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b-NO" sz="2100" b="1" dirty="0"/>
                        <a:t>+0.007818</a:t>
                      </a:r>
                      <a:r>
                        <a:rPr lang="nb-NO" sz="2100" dirty="0"/>
                        <a:t> </a:t>
                      </a:r>
                    </a:p>
                    <a:p>
                      <a:pPr algn="ctr"/>
                      <a:r>
                        <a:rPr lang="nb-NO" sz="2100" b="1" dirty="0"/>
                        <a:t>[0.002821, 0.011853]</a:t>
                      </a:r>
                      <a:endParaRPr lang="nb-NO" sz="2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b="1" dirty="0"/>
                        <a:t>T-Learner</a:t>
                      </a:r>
                      <a:endParaRPr lang="en-US" sz="2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03214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8680317"/>
      </p:ext>
    </p:extLst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2">
            <a:extLst>
              <a:ext uri="{FF2B5EF4-FFF2-40B4-BE49-F238E27FC236}">
                <a16:creationId xmlns:a16="http://schemas.microsoft.com/office/drawing/2014/main" id="{A7C4976A-1F6E-1D27-800A-A0B85928F364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3">
            <a:extLst>
              <a:ext uri="{FF2B5EF4-FFF2-40B4-BE49-F238E27FC236}">
                <a16:creationId xmlns:a16="http://schemas.microsoft.com/office/drawing/2014/main" id="{00D55F00-3049-2DA3-E7DB-1967D0382F3C}"/>
              </a:ext>
            </a:extLst>
          </p:cNvPr>
          <p:cNvSpPr/>
          <p:nvPr/>
        </p:nvSpPr>
        <p:spPr>
          <a:xfrm>
            <a:off x="-1575560" y="910033"/>
            <a:ext cx="19983724" cy="10466475"/>
          </a:xfrm>
          <a:custGeom>
            <a:avLst/>
            <a:gdLst/>
            <a:ahLst/>
            <a:cxnLst/>
            <a:rect l="l" t="t" r="r" b="b"/>
            <a:pathLst>
              <a:path w="19983724" h="10466475">
                <a:moveTo>
                  <a:pt x="0" y="0"/>
                </a:moveTo>
                <a:lnTo>
                  <a:pt x="19983724" y="0"/>
                </a:lnTo>
                <a:lnTo>
                  <a:pt x="19983724" y="10466476"/>
                </a:lnTo>
                <a:lnTo>
                  <a:pt x="0" y="104664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58" r="-5452" b="-5810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1A37F248-453F-8032-E2C8-4022C6F8A353}"/>
              </a:ext>
            </a:extLst>
          </p:cNvPr>
          <p:cNvSpPr txBox="1"/>
          <p:nvPr/>
        </p:nvSpPr>
        <p:spPr>
          <a:xfrm>
            <a:off x="1028700" y="907257"/>
            <a:ext cx="10329025" cy="7494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6648"/>
              </a:lnSpc>
            </a:pPr>
            <a:r>
              <a:rPr lang="en-US" sz="4783" b="1" spc="-191" dirty="0">
                <a:solidFill>
                  <a:srgbClr val="EA0029"/>
                </a:solidFill>
                <a:latin typeface="VSF Pro Bold"/>
                <a:ea typeface="VSF Pro Bold"/>
                <a:cs typeface="VSF Pro Bold"/>
                <a:sym typeface="VSF Pro Bold"/>
              </a:rPr>
              <a:t>THANK YOU !</a:t>
            </a:r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AFAE9A48-2A15-3FA1-56A1-68F5AE990820}"/>
              </a:ext>
            </a:extLst>
          </p:cNvPr>
          <p:cNvSpPr/>
          <p:nvPr/>
        </p:nvSpPr>
        <p:spPr>
          <a:xfrm>
            <a:off x="14595959" y="1028700"/>
            <a:ext cx="3275001" cy="798911"/>
          </a:xfrm>
          <a:custGeom>
            <a:avLst/>
            <a:gdLst/>
            <a:ahLst/>
            <a:cxnLst/>
            <a:rect l="l" t="t" r="r" b="b"/>
            <a:pathLst>
              <a:path w="3275001" h="798911">
                <a:moveTo>
                  <a:pt x="0" y="0"/>
                </a:moveTo>
                <a:lnTo>
                  <a:pt x="3275001" y="0"/>
                </a:lnTo>
                <a:lnTo>
                  <a:pt x="3275001" y="798911"/>
                </a:lnTo>
                <a:lnTo>
                  <a:pt x="0" y="7989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7255" t="-71309" r="-17255" b="-71309"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8198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H_x1ecc__x0020__x0026__x0020_T_x00ca_N_x0020__x0028_FULL_x0020_NAME_x0029_ xmlns="22ef5c31-d4ac-42a6-adac-c6e2e5041fd5" xsi:nil="true"/>
    <_Flow_SignoffStatus xmlns="22ef5c31-d4ac-42a6-adac-c6e2e5041fd5" xsi:nil="true"/>
    <TaxCatchAll xmlns="f050083b-04f7-4124-a54c-02bf6fa39322" xsi:nil="true"/>
    <lcf76f155ced4ddcb4097134ff3c332f xmlns="22ef5c31-d4ac-42a6-adac-c6e2e5041fd5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8687BAE3AE8D44FAA9CC6D2DC56E498" ma:contentTypeVersion="15" ma:contentTypeDescription="Create a new document." ma:contentTypeScope="" ma:versionID="98091edac665eee0b70d17db086be240">
  <xsd:schema xmlns:xsd="http://www.w3.org/2001/XMLSchema" xmlns:xs="http://www.w3.org/2001/XMLSchema" xmlns:p="http://schemas.microsoft.com/office/2006/metadata/properties" xmlns:ns2="22ef5c31-d4ac-42a6-adac-c6e2e5041fd5" xmlns:ns3="f050083b-04f7-4124-a54c-02bf6fa39322" targetNamespace="http://schemas.microsoft.com/office/2006/metadata/properties" ma:root="true" ma:fieldsID="02f846928e1fb37461535c3e1fcf30a8" ns2:_="" ns3:_="">
    <xsd:import namespace="22ef5c31-d4ac-42a6-adac-c6e2e5041fd5"/>
    <xsd:import namespace="f050083b-04f7-4124-a54c-02bf6fa3932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_Flow_SignoffStatus" minOccurs="0"/>
                <xsd:element ref="ns2:MediaLengthInSeconds" minOccurs="0"/>
                <xsd:element ref="ns2:MediaServiceBillingMetadata" minOccurs="0"/>
                <xsd:element ref="ns2:MediaServiceLocation" minOccurs="0"/>
                <xsd:element ref="ns2:H_x1ecc__x0020__x0026__x0020_T_x00ca_N_x0020__x0028_FULL_x0020_NAME_x0029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ef5c31-d4ac-42a6-adac-c6e2e5041f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539c6995-f766-4945-9983-687bd46322c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_Flow_SignoffStatus" ma:index="18" nillable="true" ma:displayName="Sign-off status" ma:internalName="_x0024_Resources_x003a_core_x002c_Signoff_Status">
      <xsd:simpleType>
        <xsd:restriction base="dms:Text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H_x1ecc__x0020__x0026__x0020_T_x00ca_N_x0020__x0028_FULL_x0020_NAME_x0029_" ma:index="22" nillable="true" ma:displayName="HỌ &amp; TÊN (FULL NAME)" ma:internalName="H_x1ecc__x0020__x0026__x0020_T_x00ca_N_x0020__x0028_FULL_x0020_NAME_x0029_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50083b-04f7-4124-a54c-02bf6fa39322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21065c7d-d18d-48df-b5b0-f93d5bfbbc22}" ma:internalName="TaxCatchAll" ma:showField="CatchAllData" ma:web="f050083b-04f7-4124-a54c-02bf6fa3932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F94E410-4BE5-415C-B563-55085892A8DC}">
  <ds:schemaRefs>
    <ds:schemaRef ds:uri="http://schemas.microsoft.com/office/2006/metadata/properties"/>
    <ds:schemaRef ds:uri="http://purl.org/dc/dcmitype/"/>
    <ds:schemaRef ds:uri="f050083b-04f7-4124-a54c-02bf6fa39322"/>
    <ds:schemaRef ds:uri="http://purl.org/dc/elements/1.1/"/>
    <ds:schemaRef ds:uri="http://schemas.microsoft.com/office/2006/documentManagement/types"/>
    <ds:schemaRef ds:uri="22ef5c31-d4ac-42a6-adac-c6e2e5041fd5"/>
    <ds:schemaRef ds:uri="http://schemas.openxmlformats.org/package/2006/metadata/core-properties"/>
    <ds:schemaRef ds:uri="http://schemas.microsoft.com/office/infopath/2007/PartnerControls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AC4125CC-5CF6-4E4B-B3F5-FE0E73A2283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2ef5c31-d4ac-42a6-adac-c6e2e5041fd5"/>
    <ds:schemaRef ds:uri="f050083b-04f7-4124-a54c-02bf6fa3932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EDC6290-6FF3-4960-9895-A664A45ACB1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2097</TotalTime>
  <Words>673</Words>
  <Application>Microsoft Office PowerPoint</Application>
  <PresentationFormat>Custom</PresentationFormat>
  <Paragraphs>178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Leelawadee UI</vt:lpstr>
      <vt:lpstr>Lexend Bold</vt:lpstr>
      <vt:lpstr>VSF Pro Bold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[VinUn_20k] Đào tạo hội nhập</dc:title>
  <cp:lastModifiedBy>Nguyễn Lâm Phương Thảo</cp:lastModifiedBy>
  <cp:revision>67</cp:revision>
  <dcterms:created xsi:type="dcterms:W3CDTF">2006-08-16T00:00:00Z</dcterms:created>
  <dcterms:modified xsi:type="dcterms:W3CDTF">2026-08-26T08:19:21Z</dcterms:modified>
  <dc:identifier>DAHKMbr50OA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0x01010008687BAE3AE8D44FAA9CC6D2DC56E498</vt:lpwstr>
  </property>
  <property fmtid="{D5CDD505-2E9C-101B-9397-08002B2CF9AE}" pid="3" name="MediaServiceImageTags">
    <vt:lpwstr/>
  </property>
</Properties>
</file>